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29"/>
  </p:notesMasterIdLst>
  <p:sldIdLst>
    <p:sldId id="464" r:id="rId2"/>
    <p:sldId id="256" r:id="rId3"/>
    <p:sldId id="260" r:id="rId4"/>
    <p:sldId id="556" r:id="rId5"/>
    <p:sldId id="557" r:id="rId6"/>
    <p:sldId id="568" r:id="rId7"/>
    <p:sldId id="569" r:id="rId8"/>
    <p:sldId id="576" r:id="rId9"/>
    <p:sldId id="577" r:id="rId10"/>
    <p:sldId id="574" r:id="rId11"/>
    <p:sldId id="578" r:id="rId12"/>
    <p:sldId id="579" r:id="rId13"/>
    <p:sldId id="573" r:id="rId14"/>
    <p:sldId id="580" r:id="rId15"/>
    <p:sldId id="571" r:id="rId16"/>
    <p:sldId id="306" r:id="rId17"/>
    <p:sldId id="572" r:id="rId18"/>
    <p:sldId id="575" r:id="rId19"/>
    <p:sldId id="558" r:id="rId20"/>
    <p:sldId id="559" r:id="rId21"/>
    <p:sldId id="560" r:id="rId22"/>
    <p:sldId id="561" r:id="rId23"/>
    <p:sldId id="562" r:id="rId24"/>
    <p:sldId id="563" r:id="rId25"/>
    <p:sldId id="564" r:id="rId26"/>
    <p:sldId id="565" r:id="rId27"/>
    <p:sldId id="566" r:id="rId28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A300"/>
    <a:srgbClr val="0047BA"/>
    <a:srgbClr val="0011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9"/>
    <p:restoredTop sz="94690"/>
  </p:normalViewPr>
  <p:slideViewPr>
    <p:cSldViewPr snapToGrid="0" snapToObjects="1">
      <p:cViewPr varScale="1">
        <p:scale>
          <a:sx n="86" d="100"/>
          <a:sy n="86" d="100"/>
        </p:scale>
        <p:origin x="60" y="474"/>
      </p:cViewPr>
      <p:guideLst>
        <p:guide orient="horz" pos="2381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EC5B6-7176-48EA-AEC6-B823C5E11E9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8DED3-83AC-4E85-8290-EC7A5C266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012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629BD-55B8-4C31-A298-7DB0EFC626E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LDESIGN\OneDrive\바탕 화면\Downloads\shutterstock_1116319604.jpg"/>
          <p:cNvPicPr>
            <a:picLocks noChangeAspect="1" noChangeArrowheads="1"/>
          </p:cNvPicPr>
          <p:nvPr userDrawn="1"/>
        </p:nvPicPr>
        <p:blipFill>
          <a:blip r:embed="rId2"/>
          <a:srcRect r="10569" b="30810"/>
          <a:stretch>
            <a:fillRect/>
          </a:stretch>
        </p:blipFill>
        <p:spPr bwMode="auto">
          <a:xfrm>
            <a:off x="-71663" y="-183836"/>
            <a:ext cx="10774109" cy="3803905"/>
          </a:xfrm>
          <a:prstGeom prst="rect">
            <a:avLst/>
          </a:prstGeom>
          <a:noFill/>
        </p:spPr>
      </p:pic>
      <p:cxnSp>
        <p:nvCxnSpPr>
          <p:cNvPr id="12" name="직선 연결선 11"/>
          <p:cNvCxnSpPr/>
          <p:nvPr userDrawn="1"/>
        </p:nvCxnSpPr>
        <p:spPr>
          <a:xfrm>
            <a:off x="-82296" y="3620069"/>
            <a:ext cx="10774109" cy="0"/>
          </a:xfrm>
          <a:prstGeom prst="line">
            <a:avLst/>
          </a:prstGeom>
          <a:ln w="38100">
            <a:solidFill>
              <a:srgbClr val="00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/>
          <p:cNvSpPr/>
          <p:nvPr userDrawn="1"/>
        </p:nvSpPr>
        <p:spPr>
          <a:xfrm>
            <a:off x="907832" y="3336604"/>
            <a:ext cx="4689538" cy="594360"/>
          </a:xfrm>
          <a:prstGeom prst="roundRect">
            <a:avLst>
              <a:gd name="adj" fmla="val 18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5087354" y="4624193"/>
            <a:ext cx="5157514" cy="2536266"/>
          </a:xfrm>
          <a:prstGeom prst="rect">
            <a:avLst/>
          </a:prstGeom>
        </p:spPr>
      </p:pic>
      <p:sp>
        <p:nvSpPr>
          <p:cNvPr id="17" name="직사각형 16"/>
          <p:cNvSpPr/>
          <p:nvPr userDrawn="1"/>
        </p:nvSpPr>
        <p:spPr>
          <a:xfrm>
            <a:off x="4901343" y="343950"/>
            <a:ext cx="534352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>
              <a:spcAft>
                <a:spcPct val="0"/>
              </a:spcAft>
              <a:defRPr lang="ko-KR"/>
            </a:pPr>
            <a:r>
              <a:rPr lang="en-US" altLang="ko-KR" sz="1000" b="1" dirty="0">
                <a:solidFill>
                  <a:schemeClr val="bg1"/>
                </a:solidFill>
                <a:latin typeface="Pretendard"/>
                <a:ea typeface="Pretendard"/>
              </a:rPr>
              <a:t>Mastering </a:t>
            </a:r>
            <a:r>
              <a:rPr lang="es-ES" altLang="ko-KR" sz="1000" b="1" dirty="0">
                <a:solidFill>
                  <a:schemeClr val="bg1"/>
                </a:solidFill>
                <a:latin typeface="Pretendard"/>
                <a:ea typeface="Pretendard"/>
              </a:rPr>
              <a:t>Python Programming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37" y="3449948"/>
            <a:ext cx="8082563" cy="34024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00" b="1">
                <a:solidFill>
                  <a:srgbClr val="0047BA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DE78E401-FC79-4AFF-9732-870DF3510A6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61437" y="3930964"/>
            <a:ext cx="7950473" cy="322949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3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lvl="0"/>
            <a:endParaRPr lang="ko-KR" altLang="en-US" dirty="0"/>
          </a:p>
          <a:p>
            <a:pPr lvl="0"/>
            <a:endParaRPr lang="ko-KR" altLang="en-US" dirty="0"/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986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 t="41043" r="2627" b="7232"/>
          <a:stretch>
            <a:fillRect/>
          </a:stretch>
        </p:blipFill>
        <p:spPr>
          <a:xfrm>
            <a:off x="-18498" y="-183836"/>
            <a:ext cx="10741427" cy="3803905"/>
          </a:xfrm>
          <a:prstGeom prst="rect">
            <a:avLst/>
          </a:prstGeom>
        </p:spPr>
      </p:pic>
      <p:cxnSp>
        <p:nvCxnSpPr>
          <p:cNvPr id="3" name="직선 연결선 2"/>
          <p:cNvCxnSpPr/>
          <p:nvPr userDrawn="1"/>
        </p:nvCxnSpPr>
        <p:spPr>
          <a:xfrm>
            <a:off x="-29131" y="3620069"/>
            <a:ext cx="10774109" cy="0"/>
          </a:xfrm>
          <a:prstGeom prst="line">
            <a:avLst/>
          </a:prstGeom>
          <a:ln w="38100">
            <a:solidFill>
              <a:srgbClr val="FFA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3"/>
          <p:cNvSpPr/>
          <p:nvPr userDrawn="1"/>
        </p:nvSpPr>
        <p:spPr>
          <a:xfrm>
            <a:off x="907832" y="3336604"/>
            <a:ext cx="4689538" cy="594360"/>
          </a:xfrm>
          <a:prstGeom prst="roundRect">
            <a:avLst>
              <a:gd name="adj" fmla="val 18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5087354" y="4624193"/>
            <a:ext cx="5157514" cy="2536266"/>
          </a:xfrm>
          <a:prstGeom prst="rect">
            <a:avLst/>
          </a:prstGeom>
        </p:spPr>
      </p:pic>
      <p:pic>
        <p:nvPicPr>
          <p:cNvPr id="6" name="그림 5" descr="PPT_스타일(교육 2종)_2,3_슬기 수정-11.png"/>
          <p:cNvPicPr>
            <a:picLocks noChangeAspect="1"/>
          </p:cNvPicPr>
          <p:nvPr userDrawn="1"/>
        </p:nvPicPr>
        <p:blipFill>
          <a:blip r:embed="rId4">
            <a:lum bright="20000"/>
          </a:blip>
          <a:stretch>
            <a:fillRect/>
          </a:stretch>
        </p:blipFill>
        <p:spPr>
          <a:xfrm>
            <a:off x="374731" y="386482"/>
            <a:ext cx="1969012" cy="256033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4901343" y="343950"/>
            <a:ext cx="5343525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>
              <a:spcAft>
                <a:spcPct val="0"/>
              </a:spcAft>
              <a:defRPr lang="ko-KR"/>
            </a:pPr>
            <a:r>
              <a:rPr lang="es-ES" altLang="ko-KR" sz="1000" b="1" dirty="0">
                <a:solidFill>
                  <a:schemeClr val="bg1"/>
                </a:solidFill>
                <a:latin typeface="Pretendard"/>
                <a:ea typeface="Pretendard"/>
              </a:rPr>
              <a:t>Python Programming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37" y="3449948"/>
            <a:ext cx="8082563" cy="34024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00" b="1">
                <a:solidFill>
                  <a:srgbClr val="0047BA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E78E401-FC79-4AFF-9732-870DF3510A6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61437" y="3930964"/>
            <a:ext cx="7950473" cy="322949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3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  <a:p>
            <a:pPr lvl="0"/>
            <a:endParaRPr lang="ko-KR" altLang="en-US" dirty="0"/>
          </a:p>
          <a:p>
            <a:pPr lvl="0"/>
            <a:endParaRPr lang="ko-KR" altLang="en-US" dirty="0"/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069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9"/>
          <p:cNvSpPr txBox="1">
            <a:spLocks noChangeArrowheads="1"/>
          </p:cNvSpPr>
          <p:nvPr userDrawn="1"/>
        </p:nvSpPr>
        <p:spPr>
          <a:xfrm>
            <a:off x="543623" y="7214251"/>
            <a:ext cx="1928413" cy="123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itchFamily="50" charset="-127"/>
                <a:ea typeface="Pretendard SemiBold" pitchFamily="50" charset="-127"/>
                <a:cs typeface="Arial"/>
              </a:rPr>
              <a:t>AI Experts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itchFamily="50" charset="-127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itchFamily="50" charset="-127"/>
                <a:ea typeface="Pretendard SemiBold" pitchFamily="50" charset="-127"/>
                <a:cs typeface="Arial"/>
              </a:rPr>
              <a:t>Who Lead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itchFamily="50" charset="-127"/>
                <a:ea typeface="Pretendard SemiBold" pitchFamily="50" charset="-127"/>
                <a:cs typeface="Arial"/>
              </a:rPr>
              <a:t>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itchFamily="50" charset="-127"/>
                <a:ea typeface="Pretendard SemiBold" pitchFamily="50" charset="-127"/>
                <a:cs typeface="Arial"/>
              </a:rPr>
              <a:t>The Future </a:t>
            </a:r>
            <a:r>
              <a:rPr lang="en-US" altLang="zh-TW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SemiBold" pitchFamily="50" charset="-127"/>
                <a:ea typeface="Pretendard SemiBold" pitchFamily="50" charset="-127"/>
                <a:cs typeface="Arial"/>
              </a:rPr>
              <a:t> </a:t>
            </a:r>
            <a:r>
              <a:rPr lang="en-US" altLang="zh-TW" sz="800" b="1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itchFamily="50" charset="-127"/>
                <a:ea typeface="Pretendard" pitchFamily="50" charset="-127"/>
                <a:cs typeface="Arial"/>
              </a:rPr>
              <a:t>DMUAI</a:t>
            </a:r>
            <a:endParaRPr lang="ko-KR" altLang="en-US" sz="800" b="1" dirty="0">
              <a:solidFill>
                <a:schemeClr val="tx1">
                  <a:lumMod val="85000"/>
                  <a:lumOff val="15000"/>
                </a:schemeClr>
              </a:solidFill>
              <a:latin typeface="Pretendard" pitchFamily="50" charset="-127"/>
              <a:ea typeface="Pretendard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46985" y="7132361"/>
            <a:ext cx="1332000" cy="159646"/>
          </a:xfrm>
          <a:prstGeom prst="rect">
            <a:avLst/>
          </a:prstGeom>
        </p:spPr>
      </p:pic>
      <p:sp>
        <p:nvSpPr>
          <p:cNvPr id="18" name="Text Box 9"/>
          <p:cNvSpPr txBox="1">
            <a:spLocks noChangeArrowheads="1"/>
          </p:cNvSpPr>
          <p:nvPr userDrawn="1"/>
        </p:nvSpPr>
        <p:spPr>
          <a:xfrm>
            <a:off x="282209" y="7212184"/>
            <a:ext cx="158698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fld id="{F8EB5586-3B3E-4BF7-83AC-18B949B8D7F9}" type="slidenum">
              <a:rPr lang="en-US" altLang="zh-TW" sz="900" b="1" smtClean="0">
                <a:solidFill>
                  <a:srgbClr val="0047BA"/>
                </a:solidFill>
                <a:latin typeface="Pretendard" pitchFamily="50" charset="-127"/>
                <a:ea typeface="Pretendard" pitchFamily="50" charset="-127"/>
                <a:cs typeface="Arial"/>
              </a:rPr>
              <a:pPr eaLnBrk="1" hangingPunct="1">
                <a:spcBef>
                  <a:spcPct val="0"/>
                </a:spcBef>
                <a:spcAft>
                  <a:spcPct val="100000"/>
                </a:spcAft>
                <a:defRPr lang="ko-KR" altLang="en-US"/>
              </a:pPr>
              <a:t>‹#›</a:t>
            </a:fld>
            <a:endParaRPr lang="ko-KR" altLang="en-US" sz="900" b="1" dirty="0">
              <a:solidFill>
                <a:srgbClr val="0047BA"/>
              </a:solidFill>
              <a:latin typeface="Pretendard" pitchFamily="50" charset="-127"/>
              <a:ea typeface="Pretendard" pitchFamily="50" charset="-127"/>
            </a:endParaRPr>
          </a:p>
        </p:txBody>
      </p:sp>
      <p:pic>
        <p:nvPicPr>
          <p:cNvPr id="22" name="그림 21" descr="PPT_스타일(교육 2종)_2,3_슬기 수정-1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2209" y="263073"/>
            <a:ext cx="1592833" cy="207118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32" y="616688"/>
            <a:ext cx="11868730" cy="34024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00" b="1">
                <a:solidFill>
                  <a:srgbClr val="0047BA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E78E401-FC79-4AFF-9732-870DF3510A6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10832" y="1047344"/>
            <a:ext cx="11674764" cy="3012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ko-KR" altLang="en-US" sz="15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832" y="1717644"/>
            <a:ext cx="10168153" cy="5084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ko-KR" altLang="en-US" sz="1800" b="1" kern="1200" dirty="0">
                <a:solidFill>
                  <a:srgbClr val="0047B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31430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9"/>
          <p:cNvSpPr txBox="1">
            <a:spLocks noChangeArrowheads="1"/>
          </p:cNvSpPr>
          <p:nvPr userDrawn="1"/>
        </p:nvSpPr>
        <p:spPr>
          <a:xfrm>
            <a:off x="9965067" y="7212184"/>
            <a:ext cx="158698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1pPr>
            <a:lvl2pPr marL="742950" indent="-28575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2pPr>
            <a:lvl3pPr marL="11430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3pPr>
            <a:lvl4pPr marL="16002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4pPr>
            <a:lvl5pPr marL="2057400" indent="-228600" defTabSz="801688" eaLnBrk="0" hangingPunct="0"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B0F0"/>
                </a:solidFill>
                <a:latin typeface="산돌명조B"/>
                <a:ea typeface="산돌명조B"/>
                <a:cs typeface="산돌명조B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defRPr lang="ko-KR" altLang="en-US"/>
            </a:pPr>
            <a:fld id="{F8EB5586-3B3E-4BF7-83AC-18B949B8D7F9}" type="slidenum">
              <a:rPr lang="en-US" altLang="zh-TW" sz="900" b="1" smtClean="0">
                <a:solidFill>
                  <a:srgbClr val="0047BA"/>
                </a:solidFill>
                <a:latin typeface="Pretendard" pitchFamily="50" charset="-127"/>
                <a:ea typeface="Pretendard" pitchFamily="50" charset="-127"/>
                <a:cs typeface="Arial"/>
              </a:rPr>
              <a:pPr eaLnBrk="1" hangingPunct="1">
                <a:spcBef>
                  <a:spcPct val="0"/>
                </a:spcBef>
                <a:spcAft>
                  <a:spcPct val="100000"/>
                </a:spcAft>
                <a:defRPr lang="ko-KR" altLang="en-US"/>
              </a:pPr>
              <a:t>‹#›</a:t>
            </a:fld>
            <a:endParaRPr lang="ko-KR" altLang="en-US" sz="900" b="1" dirty="0">
              <a:solidFill>
                <a:srgbClr val="0047BA"/>
              </a:solidFill>
              <a:latin typeface="Pretendard" pitchFamily="50" charset="-127"/>
              <a:ea typeface="Pretendard" pitchFamily="50" charset="-127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C306E739-7638-4E33-A56D-F59DFF4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32" y="616688"/>
            <a:ext cx="11868730" cy="34024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00" b="1">
                <a:solidFill>
                  <a:srgbClr val="C0000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5461B2FC-D02B-4C81-AF4D-6E47AACB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832" y="1717644"/>
            <a:ext cx="10168153" cy="5084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ko-KR" altLang="en-US" sz="1800" b="1" kern="1200" dirty="0">
                <a:solidFill>
                  <a:srgbClr val="0047B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DE78E401-FC79-4AFF-9732-870DF3510A6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10832" y="1047344"/>
            <a:ext cx="11674764" cy="3012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ko-KR" altLang="en-US" sz="1500" b="1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－"/>
              <a:defRPr lang="ko-KR" altLang="en-US" sz="2000" b="0" kern="1200" dirty="0">
                <a:solidFill>
                  <a:srgbClr val="05325B"/>
                </a:solidFill>
                <a:latin typeface="+mn-lt"/>
                <a:ea typeface="+mn-ea"/>
                <a:cs typeface="+mn-cs"/>
              </a:defRPr>
            </a:lvl2pPr>
            <a:lvl3pPr>
              <a:defRPr lang="ko-KR" altLang="en-US" sz="1800" b="1" kern="1200" dirty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buFont typeface="맑은 고딕" panose="020B0503020000020004" pitchFamily="50" charset="-127"/>
              <a:buChar char="－"/>
              <a:defRPr lang="ko-KR" alt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모서리가 둥근 직사각형 12">
            <a:extLst>
              <a:ext uri="{FF2B5EF4-FFF2-40B4-BE49-F238E27FC236}">
                <a16:creationId xmlns:a16="http://schemas.microsoft.com/office/drawing/2014/main" id="{A4E2404A-16CF-417E-AFA9-C236FE60558F}"/>
              </a:ext>
            </a:extLst>
          </p:cNvPr>
          <p:cNvSpPr/>
          <p:nvPr userDrawn="1"/>
        </p:nvSpPr>
        <p:spPr>
          <a:xfrm>
            <a:off x="0" y="231239"/>
            <a:ext cx="10691813" cy="340242"/>
          </a:xfrm>
          <a:prstGeom prst="roundRect">
            <a:avLst>
              <a:gd name="adj" fmla="val 30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81602-E7B0-45C0-8D72-6C9C6AE640D7}"/>
              </a:ext>
            </a:extLst>
          </p:cNvPr>
          <p:cNvSpPr txBox="1"/>
          <p:nvPr userDrawn="1"/>
        </p:nvSpPr>
        <p:spPr>
          <a:xfrm>
            <a:off x="5034010" y="237314"/>
            <a:ext cx="5659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7030A0"/>
                </a:solidFill>
              </a:rPr>
              <a:t>단원 </a:t>
            </a:r>
            <a:r>
              <a:rPr lang="en-US" altLang="ko-KR" sz="1600" b="1" dirty="0">
                <a:solidFill>
                  <a:srgbClr val="7030A0"/>
                </a:solidFill>
              </a:rPr>
              <a:t>09 </a:t>
            </a:r>
            <a:r>
              <a:rPr lang="ko-KR" altLang="en-US" sz="1600" b="1" dirty="0">
                <a:solidFill>
                  <a:srgbClr val="7030A0"/>
                </a:solidFill>
              </a:rPr>
              <a:t>패키지 활용과 새로운 기능</a:t>
            </a:r>
            <a:r>
              <a:rPr lang="en-US" altLang="ko-KR" sz="1600" b="1" dirty="0">
                <a:solidFill>
                  <a:srgbClr val="7030A0"/>
                </a:solidFill>
              </a:rPr>
              <a:t>: </a:t>
            </a:r>
            <a:r>
              <a:rPr lang="ko-KR" altLang="en-US" sz="1600" b="1" dirty="0">
                <a:solidFill>
                  <a:srgbClr val="7030A0"/>
                </a:solidFill>
              </a:rPr>
              <a:t>패턴 </a:t>
            </a:r>
            <a:r>
              <a:rPr lang="ko-KR" altLang="en-US" sz="1600" b="1" dirty="0" err="1">
                <a:solidFill>
                  <a:srgbClr val="7030A0"/>
                </a:solidFill>
              </a:rPr>
              <a:t>매칭과</a:t>
            </a:r>
            <a:r>
              <a:rPr lang="ko-KR" altLang="en-US" sz="1600" b="1" dirty="0">
                <a:solidFill>
                  <a:srgbClr val="7030A0"/>
                </a:solidFill>
              </a:rPr>
              <a:t> 타입 힌트</a:t>
            </a:r>
          </a:p>
        </p:txBody>
      </p:sp>
    </p:spTree>
    <p:extLst>
      <p:ext uri="{BB962C8B-B14F-4D97-AF65-F5344CB8AC3E}">
        <p14:creationId xmlns:p14="http://schemas.microsoft.com/office/powerpoint/2010/main" val="298425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29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69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81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76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84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44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784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저작권 안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446067"/>
            <a:ext cx="10691813" cy="5556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84"/>
          </a:p>
        </p:txBody>
      </p:sp>
      <p:sp>
        <p:nvSpPr>
          <p:cNvPr id="8" name="TextBox 7"/>
          <p:cNvSpPr txBox="1"/>
          <p:nvPr userDrawn="1"/>
        </p:nvSpPr>
        <p:spPr>
          <a:xfrm>
            <a:off x="462489" y="446068"/>
            <a:ext cx="7914505" cy="533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66" b="1" dirty="0">
                <a:latin typeface="HY궁서B" pitchFamily="18" charset="-127"/>
                <a:ea typeface="HY궁서B" pitchFamily="18" charset="-127"/>
              </a:rPr>
              <a:t>강의교안 이용 안내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456619" y="1874827"/>
            <a:ext cx="10109493" cy="2128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8989" indent="-188989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본 강의교안의 저작권은 </a:t>
            </a:r>
            <a:r>
              <a:rPr kumimoji="0" lang="ko-KR" altLang="en-US" sz="2205" b="1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도서출판 홍릉</a:t>
            </a: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에 있습니다</a:t>
            </a:r>
            <a:r>
              <a:rPr kumimoji="0" lang="en-US" altLang="ko-KR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.</a:t>
            </a:r>
          </a:p>
          <a:p>
            <a:pPr marL="188989" indent="-188989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kumimoji="0" lang="en-US" altLang="ko-KR" sz="2205" u="none" dirty="0">
              <a:solidFill>
                <a:schemeClr val="accent3">
                  <a:lumMod val="50000"/>
                </a:schemeClr>
              </a:solidFill>
              <a:latin typeface="HY궁서B" pitchFamily="18" charset="-127"/>
              <a:ea typeface="HY궁서B" pitchFamily="18" charset="-127"/>
            </a:endParaRPr>
          </a:p>
          <a:p>
            <a:pPr marL="188989" marR="0" lvl="0" indent="-18898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불법한 </a:t>
            </a:r>
            <a:r>
              <a:rPr kumimoji="0" lang="en-US" altLang="ko-KR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PDF</a:t>
            </a: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 파일이 사용되지 않도록 지도 바랍니다</a:t>
            </a:r>
            <a:r>
              <a:rPr kumimoji="0" lang="en-US" altLang="ko-KR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.</a:t>
            </a:r>
          </a:p>
          <a:p>
            <a:pPr marL="188989" indent="-188989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kumimoji="0" lang="en-US" altLang="ko-KR" sz="2205" u="none" dirty="0">
              <a:solidFill>
                <a:schemeClr val="accent3">
                  <a:lumMod val="50000"/>
                </a:schemeClr>
              </a:solidFill>
              <a:latin typeface="HY궁서B" pitchFamily="18" charset="-127"/>
              <a:ea typeface="HY궁서B" pitchFamily="18" charset="-127"/>
            </a:endParaRPr>
          </a:p>
          <a:p>
            <a:pPr marL="188989" indent="-188989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이 자료를 무단으로 전제하거나 배포할 경우 저작권법 </a:t>
            </a:r>
            <a:r>
              <a:rPr kumimoji="0" lang="en-US" altLang="ko-KR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136</a:t>
            </a: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조에 의거하여 벌금에 처할 수 있고 이를 병과</a:t>
            </a:r>
            <a:r>
              <a:rPr kumimoji="0" lang="en-US" altLang="ko-KR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(</a:t>
            </a: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倂科</a:t>
            </a:r>
            <a:r>
              <a:rPr kumimoji="0" lang="en-US" altLang="ko-KR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)</a:t>
            </a:r>
            <a:r>
              <a:rPr kumimoji="0" lang="ko-KR" altLang="en-US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할 수도 있습니다</a:t>
            </a:r>
            <a:r>
              <a:rPr kumimoji="0" lang="en-US" altLang="ko-KR" sz="2205" u="none" dirty="0">
                <a:solidFill>
                  <a:schemeClr val="accent3">
                    <a:lumMod val="50000"/>
                  </a:schemeClr>
                </a:solidFill>
                <a:latin typeface="HY궁서B" pitchFamily="18" charset="-127"/>
                <a:ea typeface="HY궁서B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051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98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4" r:id="rId2"/>
    <p:sldLayoutId id="2147483693" r:id="rId3"/>
    <p:sldLayoutId id="2147483688" r:id="rId4"/>
    <p:sldLayoutId id="2147483695" r:id="rId5"/>
    <p:sldLayoutId id="2147483692" r:id="rId6"/>
    <p:sldLayoutId id="2147483690" r:id="rId7"/>
    <p:sldLayoutId id="2147483698" r:id="rId8"/>
    <p:sldLayoutId id="2147483699" r:id="rId9"/>
    <p:sldLayoutId id="2147483691" r:id="rId10"/>
    <p:sldLayoutId id="2147483697" r:id="rId11"/>
    <p:sldLayoutId id="214748370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38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DESIGN\OneDrive\바탕 화면\Downloads\shutterstock_1792952266.jpg"/>
          <p:cNvPicPr>
            <a:picLocks noChangeAspect="1" noChangeArrowheads="1"/>
          </p:cNvPicPr>
          <p:nvPr/>
        </p:nvPicPr>
        <p:blipFill>
          <a:blip r:embed="rId2"/>
          <a:srcRect l="3270"/>
          <a:stretch>
            <a:fillRect/>
          </a:stretch>
        </p:blipFill>
        <p:spPr bwMode="auto">
          <a:xfrm>
            <a:off x="0" y="-1"/>
            <a:ext cx="10693282" cy="7559674"/>
          </a:xfrm>
          <a:prstGeom prst="rect">
            <a:avLst/>
          </a:prstGeom>
          <a:noFill/>
        </p:spPr>
      </p:pic>
      <p:sp>
        <p:nvSpPr>
          <p:cNvPr id="5" name="제목 1"/>
          <p:cNvSpPr>
            <a:spLocks noGrp="1"/>
          </p:cNvSpPr>
          <p:nvPr/>
        </p:nvSpPr>
        <p:spPr>
          <a:xfrm>
            <a:off x="467544" y="438305"/>
            <a:ext cx="7635932" cy="206271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 algn="l">
              <a:spcAft>
                <a:spcPct val="0"/>
              </a:spcAft>
              <a:defRPr lang="ko-KR"/>
            </a:pPr>
            <a:r>
              <a:rPr lang="ko-KR" altLang="en-US" sz="5400" b="1" dirty="0">
                <a:solidFill>
                  <a:srgbClr val="FFA300"/>
                </a:solidFill>
                <a:latin typeface="+mj-lt"/>
                <a:ea typeface="Pretendard SemiBold" pitchFamily="50" charset="-127"/>
              </a:rPr>
              <a:t>단원 </a:t>
            </a:r>
            <a:r>
              <a:rPr lang="en-US" altLang="ko-KR" sz="5400" b="1" dirty="0">
                <a:solidFill>
                  <a:srgbClr val="FFA300"/>
                </a:solidFill>
                <a:latin typeface="+mj-lt"/>
                <a:ea typeface="Pretendard SemiBold" pitchFamily="50" charset="-127"/>
              </a:rPr>
              <a:t>09 </a:t>
            </a:r>
          </a:p>
          <a:p>
            <a:pPr algn="l">
              <a:spcAft>
                <a:spcPct val="0"/>
              </a:spcAft>
              <a:defRPr lang="ko-KR"/>
            </a:pPr>
            <a:r>
              <a:rPr lang="ko-KR" altLang="en-US" sz="5400" b="1" dirty="0">
                <a:solidFill>
                  <a:schemeClr val="bg1"/>
                </a:solidFill>
                <a:latin typeface="+mj-lt"/>
                <a:ea typeface="Pretendard SemiBold" pitchFamily="50" charset="-127"/>
              </a:rPr>
              <a:t>패키지 활용과 새로운 기능</a:t>
            </a:r>
            <a:r>
              <a:rPr lang="en-US" altLang="ko-KR" sz="5400" b="1" dirty="0">
                <a:solidFill>
                  <a:schemeClr val="bg1"/>
                </a:solidFill>
                <a:latin typeface="+mj-lt"/>
                <a:ea typeface="Pretendard SemiBold" pitchFamily="50" charset="-127"/>
              </a:rPr>
              <a:t>:</a:t>
            </a:r>
            <a:r>
              <a:rPr lang="ko-KR" altLang="en-US" sz="5400" b="1" dirty="0">
                <a:solidFill>
                  <a:schemeClr val="bg1"/>
                </a:solidFill>
                <a:latin typeface="+mj-lt"/>
                <a:ea typeface="Pretendard SemiBold" pitchFamily="50" charset="-127"/>
              </a:rPr>
              <a:t> 패턴 </a:t>
            </a:r>
            <a:r>
              <a:rPr lang="ko-KR" altLang="en-US" sz="5400" b="1" dirty="0" err="1">
                <a:solidFill>
                  <a:schemeClr val="bg1"/>
                </a:solidFill>
                <a:latin typeface="+mj-lt"/>
                <a:ea typeface="Pretendard SemiBold" pitchFamily="50" charset="-127"/>
              </a:rPr>
              <a:t>매칭과</a:t>
            </a:r>
            <a:r>
              <a:rPr lang="ko-KR" altLang="en-US" sz="5400" b="1" dirty="0">
                <a:solidFill>
                  <a:schemeClr val="bg1"/>
                </a:solidFill>
                <a:latin typeface="+mj-lt"/>
                <a:ea typeface="Pretendard SemiBold" pitchFamily="50" charset="-127"/>
              </a:rPr>
              <a:t> 타입 힌트</a:t>
            </a:r>
            <a:endParaRPr lang="en-US" altLang="ko-KR" sz="5400" b="1" dirty="0">
              <a:solidFill>
                <a:schemeClr val="bg1"/>
              </a:solidFill>
              <a:latin typeface="+mj-lt"/>
              <a:ea typeface="Pretendard SemiBold" pitchFamily="50" charset="-127"/>
            </a:endParaRPr>
          </a:p>
        </p:txBody>
      </p:sp>
      <p:cxnSp>
        <p:nvCxnSpPr>
          <p:cNvPr id="12" name="직선 연결선[R] 11"/>
          <p:cNvCxnSpPr/>
          <p:nvPr/>
        </p:nvCxnSpPr>
        <p:spPr>
          <a:xfrm>
            <a:off x="3636335" y="1519167"/>
            <a:ext cx="645155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8245988" y="1103133"/>
            <a:ext cx="19479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lang="ko-KR"/>
            </a:pPr>
            <a:r>
              <a:rPr lang="ko-KR" altLang="en-US" sz="1400" b="1" spc="-150" dirty="0">
                <a:solidFill>
                  <a:schemeClr val="bg1"/>
                </a:solidFill>
                <a:latin typeface="+mj-ea"/>
                <a:ea typeface="+mj-ea"/>
              </a:rPr>
              <a:t>인공지능소프트웨어학과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911235" y="1610939"/>
            <a:ext cx="12827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Aft>
                <a:spcPct val="0"/>
              </a:spcAft>
              <a:defRPr lang="ko-KR"/>
            </a:pPr>
            <a:r>
              <a:rPr lang="ko-KR" altLang="en-US" sz="1600" b="1" dirty="0">
                <a:solidFill>
                  <a:srgbClr val="FFA300"/>
                </a:solidFill>
                <a:latin typeface="+mj-ea"/>
                <a:ea typeface="+mj-ea"/>
              </a:rPr>
              <a:t>강환수 교수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1. </a:t>
            </a:r>
            <a:r>
              <a:rPr lang="ko-KR" altLang="en-US" dirty="0"/>
              <a:t>패키지 활용</a:t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endParaRPr lang="ko-KR" altLang="en-US" dirty="0"/>
          </a:p>
          <a:p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F9CC5-3F0A-4980-A632-E156F218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</a:t>
            </a:r>
            <a:r>
              <a:rPr lang="en-US" altLang="ko-KR" dirty="0"/>
              <a:t>operator </a:t>
            </a:r>
            <a:r>
              <a:rPr lang="ko-KR" altLang="en-US" dirty="0"/>
              <a:t>개요와 산술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DBEFF6-C465-4527-9E0F-1E205B9FF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내장 함수 </a:t>
            </a:r>
            <a:r>
              <a:rPr lang="en-US" altLang="ko-KR" dirty="0"/>
              <a:t>eval(s)</a:t>
            </a:r>
          </a:p>
          <a:p>
            <a:pPr lvl="1"/>
            <a:r>
              <a:rPr lang="ko-KR" altLang="en-US" dirty="0"/>
              <a:t>문자열 </a:t>
            </a:r>
            <a:r>
              <a:rPr lang="en-US" altLang="ko-KR" dirty="0"/>
              <a:t>s</a:t>
            </a:r>
            <a:r>
              <a:rPr lang="ko-KR" altLang="en-US" dirty="0"/>
              <a:t>로 표현된 파이썬 표현식을 실행하고 결과를 반환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표준 모듈 </a:t>
            </a:r>
            <a:r>
              <a:rPr lang="en-US" altLang="ko-KR" dirty="0"/>
              <a:t>operator</a:t>
            </a:r>
          </a:p>
          <a:p>
            <a:pPr lvl="1"/>
            <a:r>
              <a:rPr lang="ko-KR" altLang="en-US" dirty="0"/>
              <a:t>다양한 연산자에 대한 함수를 제공하는 모듈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8BAF51-DCBB-4A5B-AA7B-933308D21F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F1994-E57E-4D9F-AB65-C7D1EAA29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742" y="4714911"/>
            <a:ext cx="3829050" cy="2133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DBF178E-40E9-46A0-BC1F-A74986A26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414" y="2301206"/>
            <a:ext cx="20097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97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6AF01-ECC0-4B76-B689-01D543FA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</a:t>
            </a:r>
            <a:r>
              <a:rPr lang="en-US" altLang="ko-KR" dirty="0" err="1"/>
              <a:t>defaultdict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49218A-FF68-40EE-A1FB-F7A79982F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딕셔너리와</a:t>
            </a:r>
            <a:r>
              <a:rPr lang="ko-KR" altLang="en-US" dirty="0"/>
              <a:t> 유사하지만 초기값</a:t>
            </a:r>
            <a:r>
              <a:rPr lang="en-US" altLang="ko-KR" dirty="0"/>
              <a:t>(default)</a:t>
            </a:r>
            <a:r>
              <a:rPr lang="ko-KR" altLang="en-US" dirty="0"/>
              <a:t>을 가지는 </a:t>
            </a:r>
            <a:r>
              <a:rPr lang="ko-KR" altLang="en-US" dirty="0" err="1"/>
              <a:t>딕셔너리</a:t>
            </a:r>
            <a:endParaRPr lang="en-US" altLang="ko-KR" dirty="0"/>
          </a:p>
          <a:p>
            <a:pPr lvl="1"/>
            <a:r>
              <a:rPr lang="ko-KR" altLang="en-US" dirty="0"/>
              <a:t>키를 사용하여 값에 접근할 때</a:t>
            </a:r>
            <a:r>
              <a:rPr lang="en-US" altLang="ko-KR" dirty="0"/>
              <a:t>, </a:t>
            </a:r>
            <a:r>
              <a:rPr lang="ko-KR" altLang="en-US" dirty="0"/>
              <a:t>만약 해당 키가 </a:t>
            </a:r>
            <a:r>
              <a:rPr lang="ko-KR" altLang="en-US" dirty="0" err="1"/>
              <a:t>딕셔너리에</a:t>
            </a:r>
            <a:r>
              <a:rPr lang="ko-KR" altLang="en-US" dirty="0"/>
              <a:t> 존재하지 않는다면</a:t>
            </a:r>
            <a:endParaRPr lang="en-US" altLang="ko-KR" dirty="0"/>
          </a:p>
          <a:p>
            <a:pPr lvl="2"/>
            <a:r>
              <a:rPr lang="ko-KR" altLang="en-US" dirty="0"/>
              <a:t>초기값으로 설정된 값으로 자동으로 초기화</a:t>
            </a:r>
            <a:endParaRPr lang="en-US" altLang="ko-KR" dirty="0"/>
          </a:p>
          <a:p>
            <a:r>
              <a:rPr lang="en-US" altLang="ko-KR" dirty="0" err="1"/>
              <a:t>defaultdict</a:t>
            </a:r>
            <a:r>
              <a:rPr lang="en-US" altLang="ko-KR" dirty="0"/>
              <a:t>(int)</a:t>
            </a:r>
            <a:r>
              <a:rPr lang="ko-KR" altLang="en-US" dirty="0"/>
              <a:t>나 </a:t>
            </a:r>
            <a:r>
              <a:rPr lang="en-US" altLang="ko-KR" dirty="0" err="1"/>
              <a:t>defaultdict</a:t>
            </a:r>
            <a:r>
              <a:rPr lang="en-US" altLang="ko-KR" dirty="0"/>
              <a:t>(list)</a:t>
            </a:r>
          </a:p>
          <a:p>
            <a:pPr lvl="1"/>
            <a:r>
              <a:rPr lang="ko-KR" altLang="en-US" dirty="0"/>
              <a:t>기본 값인 </a:t>
            </a:r>
            <a:r>
              <a:rPr lang="en-US" altLang="ko-KR" dirty="0"/>
              <a:t>0</a:t>
            </a:r>
            <a:r>
              <a:rPr lang="ko-KR" altLang="en-US" dirty="0"/>
              <a:t>이나 빈 리스트 </a:t>
            </a:r>
            <a:r>
              <a:rPr lang="en-US" altLang="ko-KR" dirty="0"/>
              <a:t>[]</a:t>
            </a:r>
            <a:r>
              <a:rPr lang="ko-KR" altLang="en-US" dirty="0"/>
              <a:t>와 같은 초기</a:t>
            </a:r>
            <a:r>
              <a:rPr lang="en-US" altLang="ko-KR" dirty="0"/>
              <a:t>(</a:t>
            </a:r>
            <a:r>
              <a:rPr lang="en-US" altLang="ko-KR" dirty="0" err="1"/>
              <a:t>default_factory</a:t>
            </a:r>
            <a:r>
              <a:rPr lang="en-US" altLang="ko-KR" dirty="0"/>
              <a:t>) </a:t>
            </a:r>
            <a:r>
              <a:rPr lang="ko-KR" altLang="en-US" dirty="0"/>
              <a:t>값이 지정되는 사전이 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DE6BFE-F75C-44AC-86F3-DC504FC5D4F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클래스 </a:t>
            </a:r>
            <a:r>
              <a:rPr lang="en-US" altLang="ko-KR" dirty="0" err="1"/>
              <a:t>collections.defaultdict</a:t>
            </a:r>
            <a:r>
              <a:rPr lang="ko-KR" altLang="en-US" dirty="0"/>
              <a:t>는 </a:t>
            </a:r>
            <a:r>
              <a:rPr lang="en-US" altLang="ko-KR" dirty="0"/>
              <a:t>collections </a:t>
            </a:r>
            <a:r>
              <a:rPr lang="ko-KR" altLang="en-US" dirty="0"/>
              <a:t>모듈에 포함된 클래스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5678AB-DDF4-4AB5-81D9-AADEDA42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25" y="3300196"/>
            <a:ext cx="7115175" cy="4086225"/>
          </a:xfrm>
          <a:prstGeom prst="rect">
            <a:avLst/>
          </a:prstGeom>
        </p:spPr>
      </p:pic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4A1A4B22-A34A-4325-A84B-83196BA2AA22}"/>
              </a:ext>
            </a:extLst>
          </p:cNvPr>
          <p:cNvSpPr/>
          <p:nvPr/>
        </p:nvSpPr>
        <p:spPr>
          <a:xfrm>
            <a:off x="5890661" y="2417440"/>
            <a:ext cx="4488324" cy="513748"/>
          </a:xfrm>
          <a:prstGeom prst="wedgeRectCallout">
            <a:avLst>
              <a:gd name="adj1" fmla="val -63637"/>
              <a:gd name="adj2" fmla="val 62058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200" dirty="0" err="1">
                <a:solidFill>
                  <a:srgbClr val="FF0000"/>
                </a:solidFill>
              </a:rPr>
              <a:t>default_factory</a:t>
            </a:r>
            <a:r>
              <a:rPr lang="ko-KR" altLang="en-US" sz="1200" dirty="0">
                <a:solidFill>
                  <a:srgbClr val="FF0000"/>
                </a:solidFill>
              </a:rPr>
              <a:t>는 키가 없는 항목을 조회할 때 자동으로 생성할 기본값의 타입이나 함수를 지정하는 속성</a:t>
            </a:r>
          </a:p>
        </p:txBody>
      </p:sp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D27C7571-CD05-441D-8C72-56D8E71FAF9D}"/>
              </a:ext>
            </a:extLst>
          </p:cNvPr>
          <p:cNvSpPr/>
          <p:nvPr/>
        </p:nvSpPr>
        <p:spPr>
          <a:xfrm>
            <a:off x="4662512" y="4235116"/>
            <a:ext cx="2440932" cy="406500"/>
          </a:xfrm>
          <a:prstGeom prst="wedgeRectCallout">
            <a:avLst>
              <a:gd name="adj1" fmla="val -103381"/>
              <a:gd name="adj2" fmla="val 35231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200" dirty="0">
                <a:solidFill>
                  <a:srgbClr val="FF0000"/>
                </a:solidFill>
              </a:rPr>
              <a:t>일반 사전이라면 오류 발생</a:t>
            </a: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333ED909-5D49-401A-AC39-D000FDCE1BBE}"/>
              </a:ext>
            </a:extLst>
          </p:cNvPr>
          <p:cNvSpPr/>
          <p:nvPr/>
        </p:nvSpPr>
        <p:spPr>
          <a:xfrm>
            <a:off x="4669262" y="3750856"/>
            <a:ext cx="4917625" cy="406500"/>
          </a:xfrm>
          <a:prstGeom prst="wedgeRectCallout">
            <a:avLst>
              <a:gd name="adj1" fmla="val -64416"/>
              <a:gd name="adj2" fmla="val 1865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200" dirty="0" err="1">
                <a:solidFill>
                  <a:srgbClr val="FF0000"/>
                </a:solidFill>
              </a:rPr>
              <a:t>딕셔너리의</a:t>
            </a:r>
            <a:r>
              <a:rPr lang="ko-KR" altLang="en-US" sz="1200" dirty="0">
                <a:solidFill>
                  <a:srgbClr val="FF0000"/>
                </a:solidFill>
              </a:rPr>
              <a:t> 서브 클래스로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존재하지 않는 키를 조회할 때 자동으로 지정한 </a:t>
            </a:r>
            <a:r>
              <a:rPr lang="en-US" altLang="ko-KR" sz="1200" dirty="0">
                <a:solidFill>
                  <a:srgbClr val="FF0000"/>
                </a:solidFill>
              </a:rPr>
              <a:t>int</a:t>
            </a:r>
            <a:r>
              <a:rPr lang="ko-KR" altLang="en-US" sz="1200" dirty="0">
                <a:solidFill>
                  <a:srgbClr val="FF0000"/>
                </a:solidFill>
              </a:rPr>
              <a:t>의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기본값 </a:t>
            </a:r>
            <a:r>
              <a:rPr lang="en-US" altLang="ko-KR" sz="1200" dirty="0">
                <a:solidFill>
                  <a:srgbClr val="FF0000"/>
                </a:solidFill>
              </a:rPr>
              <a:t>0</a:t>
            </a:r>
            <a:r>
              <a:rPr lang="ko-KR" altLang="en-US" sz="1200" dirty="0">
                <a:solidFill>
                  <a:srgbClr val="FF0000"/>
                </a:solidFill>
              </a:rPr>
              <a:t>을 생성해주는 기능</a:t>
            </a:r>
          </a:p>
        </p:txBody>
      </p:sp>
    </p:spTree>
    <p:extLst>
      <p:ext uri="{BB962C8B-B14F-4D97-AF65-F5344CB8AC3E}">
        <p14:creationId xmlns:p14="http://schemas.microsoft.com/office/powerpoint/2010/main" val="166598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F69C-54A1-4F18-AEE4-EA52E043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</a:t>
            </a:r>
            <a:r>
              <a:rPr lang="en-US" altLang="ko-KR" dirty="0" err="1"/>
              <a:t>defaultdict</a:t>
            </a:r>
            <a:r>
              <a:rPr lang="ko-KR" altLang="en-US" dirty="0"/>
              <a:t>의 첫 번째 인자의 초기 값을 </a:t>
            </a:r>
            <a:r>
              <a:rPr lang="en-US" altLang="ko-KR" dirty="0"/>
              <a:t>list</a:t>
            </a:r>
            <a:r>
              <a:rPr lang="ko-KR" altLang="en-US" dirty="0"/>
              <a:t>로 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939F1-211D-4132-A29E-66B379E5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사전의 키 </a:t>
            </a:r>
            <a:r>
              <a:rPr lang="en-US" altLang="ko-KR" dirty="0"/>
              <a:t>pl</a:t>
            </a:r>
            <a:r>
              <a:rPr lang="ko-KR" altLang="en-US" dirty="0"/>
              <a:t>의 값으로 </a:t>
            </a:r>
            <a:r>
              <a:rPr lang="en-US" altLang="ko-KR" dirty="0"/>
              <a:t>['java']</a:t>
            </a:r>
            <a:r>
              <a:rPr lang="ko-KR" altLang="en-US" dirty="0"/>
              <a:t>를 지정해 객체를 생성한 구문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FBC7CF-FD3B-45C5-B51E-8B770A3EC62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84439F-516E-4B32-B38E-2696D59A9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05" y="2325107"/>
            <a:ext cx="8029575" cy="4476750"/>
          </a:xfrm>
          <a:prstGeom prst="rect">
            <a:avLst/>
          </a:prstGeom>
        </p:spPr>
      </p:pic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480A9C27-E1E1-4142-BA8E-0F7CEA239917}"/>
              </a:ext>
            </a:extLst>
          </p:cNvPr>
          <p:cNvSpPr/>
          <p:nvPr/>
        </p:nvSpPr>
        <p:spPr>
          <a:xfrm>
            <a:off x="5168767" y="2849080"/>
            <a:ext cx="5210218" cy="606392"/>
          </a:xfrm>
          <a:prstGeom prst="wedgeRectCallout">
            <a:avLst>
              <a:gd name="adj1" fmla="val -55529"/>
              <a:gd name="adj2" fmla="val -24243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200" dirty="0">
                <a:solidFill>
                  <a:srgbClr val="FF0000"/>
                </a:solidFill>
              </a:rPr>
              <a:t>Python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en-US" altLang="ko-KR" sz="1200" dirty="0" err="1">
                <a:solidFill>
                  <a:srgbClr val="FF0000"/>
                </a:solidFill>
              </a:rPr>
              <a:t>defaultdict</a:t>
            </a:r>
            <a:r>
              <a:rPr lang="ko-KR" altLang="en-US" sz="1200" dirty="0">
                <a:solidFill>
                  <a:srgbClr val="FF0000"/>
                </a:solidFill>
              </a:rPr>
              <a:t>를 사용하여 기본값이 리스트</a:t>
            </a:r>
            <a:r>
              <a:rPr lang="en-US" altLang="ko-KR" sz="1200" dirty="0">
                <a:solidFill>
                  <a:srgbClr val="FF0000"/>
                </a:solidFill>
              </a:rPr>
              <a:t>(list)</a:t>
            </a:r>
            <a:r>
              <a:rPr lang="ko-KR" altLang="en-US" sz="1200" dirty="0">
                <a:solidFill>
                  <a:srgbClr val="FF0000"/>
                </a:solidFill>
              </a:rPr>
              <a:t>인 </a:t>
            </a:r>
            <a:r>
              <a:rPr lang="ko-KR" altLang="en-US" sz="1200" dirty="0" err="1">
                <a:solidFill>
                  <a:srgbClr val="FF0000"/>
                </a:solidFill>
              </a:rPr>
              <a:t>딕셔너리를</a:t>
            </a:r>
            <a:r>
              <a:rPr lang="ko-KR" altLang="en-US" sz="1200" dirty="0">
                <a:solidFill>
                  <a:srgbClr val="FF0000"/>
                </a:solidFill>
              </a:rPr>
              <a:t> 생성하고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키 </a:t>
            </a:r>
            <a:r>
              <a:rPr lang="en-US" altLang="ko-KR" sz="1200" dirty="0">
                <a:solidFill>
                  <a:srgbClr val="FF0000"/>
                </a:solidFill>
              </a:rPr>
              <a:t>"pl"</a:t>
            </a:r>
            <a:r>
              <a:rPr lang="ko-KR" altLang="en-US" sz="1200" dirty="0">
                <a:solidFill>
                  <a:srgbClr val="FF0000"/>
                </a:solidFill>
              </a:rPr>
              <a:t>에 초기값으로 </a:t>
            </a:r>
            <a:r>
              <a:rPr lang="en-US" altLang="ko-KR" sz="1200" dirty="0">
                <a:solidFill>
                  <a:srgbClr val="FF0000"/>
                </a:solidFill>
              </a:rPr>
              <a:t>['java']</a:t>
            </a:r>
            <a:r>
              <a:rPr lang="ko-KR" altLang="en-US" sz="1200" dirty="0">
                <a:solidFill>
                  <a:srgbClr val="FF0000"/>
                </a:solidFill>
              </a:rPr>
              <a:t>를 설정하는 코드</a:t>
            </a:r>
          </a:p>
        </p:txBody>
      </p:sp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E6A73FC6-4F9B-4425-9774-DCC54F71BEC9}"/>
              </a:ext>
            </a:extLst>
          </p:cNvPr>
          <p:cNvSpPr/>
          <p:nvPr/>
        </p:nvSpPr>
        <p:spPr>
          <a:xfrm>
            <a:off x="4595135" y="3779837"/>
            <a:ext cx="2440932" cy="324366"/>
          </a:xfrm>
          <a:prstGeom prst="wedgeRectCallout">
            <a:avLst>
              <a:gd name="adj1" fmla="val -106536"/>
              <a:gd name="adj2" fmla="val 17426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200" dirty="0">
                <a:solidFill>
                  <a:srgbClr val="FF0000"/>
                </a:solidFill>
              </a:rPr>
              <a:t>일반 사전이라면 오류 발생</a:t>
            </a: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1217F1BE-7DF8-48EB-AD1D-135575F9230C}"/>
              </a:ext>
            </a:extLst>
          </p:cNvPr>
          <p:cNvSpPr/>
          <p:nvPr/>
        </p:nvSpPr>
        <p:spPr>
          <a:xfrm>
            <a:off x="4595135" y="4156982"/>
            <a:ext cx="3095450" cy="316229"/>
          </a:xfrm>
          <a:prstGeom prst="wedgeRectCallout">
            <a:avLst>
              <a:gd name="adj1" fmla="val -158310"/>
              <a:gd name="adj2" fmla="val -26333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200" dirty="0">
                <a:solidFill>
                  <a:srgbClr val="FF0000"/>
                </a:solidFill>
              </a:rPr>
              <a:t>키다 없으므로 빈 리스트 </a:t>
            </a:r>
            <a:r>
              <a:rPr lang="en-US" altLang="ko-KR" sz="1200" dirty="0">
                <a:solidFill>
                  <a:srgbClr val="FF0000"/>
                </a:solidFill>
              </a:rPr>
              <a:t>[]</a:t>
            </a:r>
            <a:r>
              <a:rPr lang="ko-KR" altLang="en-US" sz="1200" dirty="0">
                <a:solidFill>
                  <a:srgbClr val="FF0000"/>
                </a:solidFill>
              </a:rPr>
              <a:t>를 반환</a:t>
            </a:r>
          </a:p>
        </p:txBody>
      </p:sp>
    </p:spTree>
    <p:extLst>
      <p:ext uri="{BB962C8B-B14F-4D97-AF65-F5344CB8AC3E}">
        <p14:creationId xmlns:p14="http://schemas.microsoft.com/office/powerpoint/2010/main" val="83964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2F1B8-C972-4DDD-92F6-366938F0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사전의 메소드 </a:t>
            </a:r>
            <a:r>
              <a:rPr lang="en-US" altLang="ko-KR" dirty="0" err="1"/>
              <a:t>setdefault</a:t>
            </a:r>
            <a:r>
              <a:rPr lang="en-US" altLang="ko-KR" dirty="0"/>
              <a:t>() </a:t>
            </a:r>
            <a:r>
              <a:rPr lang="ko-KR" altLang="en-US" dirty="0"/>
              <a:t>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290704-49F2-435B-8F31-DB7AB72E7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사전의 메소드 </a:t>
            </a:r>
            <a:r>
              <a:rPr lang="en-US" altLang="ko-KR" dirty="0" err="1"/>
              <a:t>setdefault</a:t>
            </a:r>
            <a:r>
              <a:rPr lang="en-US" altLang="ko-KR" dirty="0"/>
              <a:t>()</a:t>
            </a:r>
            <a:r>
              <a:rPr lang="ko-KR" altLang="en-US" dirty="0"/>
              <a:t>로 초기값을 지정 가능</a:t>
            </a:r>
            <a:endParaRPr lang="en-US" altLang="ko-KR" dirty="0"/>
          </a:p>
          <a:p>
            <a:pPr lvl="1"/>
            <a:r>
              <a:rPr lang="en-US" altLang="ko-KR" dirty="0" err="1"/>
              <a:t>setdefault</a:t>
            </a:r>
            <a:r>
              <a:rPr lang="en-US" altLang="ko-KR" dirty="0"/>
              <a:t>()</a:t>
            </a:r>
          </a:p>
          <a:p>
            <a:pPr lvl="2"/>
            <a:r>
              <a:rPr lang="ko-KR" altLang="en-US" dirty="0" err="1"/>
              <a:t>딕셔너리에서</a:t>
            </a:r>
            <a:r>
              <a:rPr lang="ko-KR" altLang="en-US" dirty="0"/>
              <a:t> 특정 키의 값이 존재하지 않으면 기본값을 설정하고 반환하는 메서드</a:t>
            </a:r>
            <a:endParaRPr lang="en-US" altLang="ko-KR" dirty="0"/>
          </a:p>
          <a:p>
            <a:pPr lvl="2"/>
            <a:r>
              <a:rPr lang="en-US" altLang="ko-KR" dirty="0" err="1"/>
              <a:t>dict.setdefault</a:t>
            </a:r>
            <a:r>
              <a:rPr lang="en-US" altLang="ko-KR" dirty="0"/>
              <a:t>(key, default)</a:t>
            </a:r>
          </a:p>
          <a:p>
            <a:pPr lvl="3"/>
            <a:r>
              <a:rPr lang="en-US" altLang="ko-KR" dirty="0"/>
              <a:t>key</a:t>
            </a:r>
            <a:r>
              <a:rPr lang="ko-KR" altLang="en-US" dirty="0"/>
              <a:t>가 </a:t>
            </a:r>
            <a:r>
              <a:rPr lang="ko-KR" altLang="en-US" dirty="0" err="1"/>
              <a:t>딕셔너리에</a:t>
            </a:r>
            <a:r>
              <a:rPr lang="ko-KR" altLang="en-US" dirty="0"/>
              <a:t> 존재하면 해당 값을 반환</a:t>
            </a:r>
            <a:endParaRPr lang="en-US" altLang="ko-KR" dirty="0"/>
          </a:p>
          <a:p>
            <a:pPr lvl="3"/>
            <a:r>
              <a:rPr lang="en-US" altLang="ko-KR" dirty="0"/>
              <a:t>key</a:t>
            </a:r>
            <a:r>
              <a:rPr lang="ko-KR" altLang="en-US" dirty="0"/>
              <a:t>가 존재하지 않으면 </a:t>
            </a:r>
            <a:r>
              <a:rPr lang="en-US" altLang="ko-KR" dirty="0"/>
              <a:t>default </a:t>
            </a:r>
            <a:r>
              <a:rPr lang="ko-KR" altLang="en-US" dirty="0"/>
              <a:t>값을 </a:t>
            </a:r>
            <a:r>
              <a:rPr lang="ko-KR" altLang="en-US" dirty="0" err="1"/>
              <a:t>딕셔너리에</a:t>
            </a:r>
            <a:r>
              <a:rPr lang="ko-KR" altLang="en-US" dirty="0"/>
              <a:t> 추가하고 반환</a:t>
            </a:r>
            <a:endParaRPr lang="en-US" altLang="ko-KR" dirty="0"/>
          </a:p>
          <a:p>
            <a:r>
              <a:rPr lang="en-US" altLang="ko-KR" dirty="0" err="1"/>
              <a:t>by_letter.setdefault</a:t>
            </a:r>
            <a:r>
              <a:rPr lang="en-US" altLang="ko-KR" dirty="0"/>
              <a:t>(</a:t>
            </a:r>
            <a:r>
              <a:rPr lang="en-US" altLang="ko-KR" dirty="0">
                <a:highlight>
                  <a:srgbClr val="FFFF00"/>
                </a:highlight>
              </a:rPr>
              <a:t>letter, []</a:t>
            </a:r>
            <a:r>
              <a:rPr lang="en-US" altLang="ko-KR" dirty="0"/>
              <a:t>).append(word)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글자를 키로 리스트에 추가</a:t>
            </a:r>
            <a:r>
              <a:rPr lang="en-US" altLang="ko-KR" dirty="0"/>
              <a:t>, </a:t>
            </a:r>
            <a:r>
              <a:rPr lang="ko-KR" altLang="en-US" dirty="0"/>
              <a:t>처음 나오는 첫 글자이면 빈 리스트인 </a:t>
            </a:r>
            <a:r>
              <a:rPr lang="en-US" altLang="ko-KR" dirty="0"/>
              <a:t>[]</a:t>
            </a:r>
            <a:r>
              <a:rPr lang="ko-KR" altLang="en-US" dirty="0"/>
              <a:t>에 </a:t>
            </a:r>
            <a:r>
              <a:rPr lang="en-US" altLang="ko-KR" dirty="0"/>
              <a:t>word</a:t>
            </a:r>
            <a:r>
              <a:rPr lang="ko-KR" altLang="en-US" dirty="0"/>
              <a:t>를 추가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C694C5-27F6-498A-A8F3-D2D97E6424E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88041E-9488-4356-B634-AE1489E78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96" y="4992107"/>
            <a:ext cx="5838825" cy="1809750"/>
          </a:xfrm>
          <a:prstGeom prst="rect">
            <a:avLst/>
          </a:prstGeom>
        </p:spPr>
      </p:pic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26D01F90-3057-49FB-B86C-99FE5E9C12C6}"/>
              </a:ext>
            </a:extLst>
          </p:cNvPr>
          <p:cNvSpPr/>
          <p:nvPr/>
        </p:nvSpPr>
        <p:spPr>
          <a:xfrm>
            <a:off x="1386037" y="4039402"/>
            <a:ext cx="6670308" cy="291966"/>
          </a:xfrm>
          <a:prstGeom prst="wedgeRectCallout">
            <a:avLst>
              <a:gd name="adj1" fmla="val -22194"/>
              <a:gd name="adj2" fmla="val -163619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200" dirty="0">
                <a:solidFill>
                  <a:srgbClr val="FF0000"/>
                </a:solidFill>
              </a:rPr>
              <a:t>첫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글자</a:t>
            </a:r>
            <a:r>
              <a:rPr lang="en-US" altLang="ko-KR" sz="1200" dirty="0">
                <a:solidFill>
                  <a:srgbClr val="FF0000"/>
                </a:solidFill>
              </a:rPr>
              <a:t>(letter)</a:t>
            </a:r>
            <a:r>
              <a:rPr lang="ko-KR" altLang="en-US" sz="1200" dirty="0">
                <a:solidFill>
                  <a:srgbClr val="FF0000"/>
                </a:solidFill>
              </a:rPr>
              <a:t>를 키로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값이 없으면 지정한 </a:t>
            </a:r>
            <a:r>
              <a:rPr lang="en-US" altLang="ko-KR" sz="1200" dirty="0">
                <a:solidFill>
                  <a:srgbClr val="FF0000"/>
                </a:solidFill>
              </a:rPr>
              <a:t>[]</a:t>
            </a:r>
            <a:r>
              <a:rPr lang="ko-KR" altLang="en-US" sz="1200" dirty="0">
                <a:solidFill>
                  <a:srgbClr val="FF0000"/>
                </a:solidFill>
              </a:rPr>
              <a:t>을 반환하며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값이 있으면 그 리스트를 반환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3E616-9EDA-4BDF-8287-F93D2DC0D0C9}"/>
              </a:ext>
            </a:extLst>
          </p:cNvPr>
          <p:cNvSpPr txBox="1"/>
          <p:nvPr/>
        </p:nvSpPr>
        <p:spPr>
          <a:xfrm>
            <a:off x="1926077" y="6235332"/>
            <a:ext cx="134241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by_letter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60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2F1B8-C972-4DDD-92F6-366938F0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</a:t>
            </a:r>
            <a:r>
              <a:rPr lang="en-US" altLang="ko-KR" dirty="0" err="1"/>
              <a:t>defaultdict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290704-49F2-435B-8F31-DB7AB72E7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코드를 더 간단히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9-2 </a:t>
            </a:r>
            <a:r>
              <a:rPr lang="ko-KR" altLang="en-US" dirty="0"/>
              <a:t>코딩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C694C5-27F6-498A-A8F3-D2D97E6424E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EA1481-405A-4DCB-B559-0D44DD7A9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83" y="4204639"/>
            <a:ext cx="5600700" cy="2895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539FBC-C3A6-4D52-99D5-039E6BB07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493" y="2064381"/>
            <a:ext cx="5838825" cy="1809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2CCE0A-5D6E-4594-81D2-8B885C475AA3}"/>
              </a:ext>
            </a:extLst>
          </p:cNvPr>
          <p:cNvSpPr txBox="1"/>
          <p:nvPr/>
        </p:nvSpPr>
        <p:spPr>
          <a:xfrm>
            <a:off x="2762655" y="3287851"/>
            <a:ext cx="134241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by_letter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347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EEB2F-B87B-4A28-A0C3-D1F41307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파이썬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E905A5-8DEC-40B9-AF94-42560AD5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 모듈 </a:t>
            </a:r>
            <a:r>
              <a:rPr lang="en-US" altLang="ko-KR" dirty="0"/>
              <a:t>random</a:t>
            </a:r>
            <a:r>
              <a:rPr lang="ko-KR" altLang="en-US" dirty="0"/>
              <a:t>은 난수와 관련된 다양한 함수를 제공</a:t>
            </a:r>
            <a:endParaRPr lang="en-US" altLang="ko-KR" dirty="0"/>
          </a:p>
          <a:p>
            <a:pPr lvl="1"/>
            <a:r>
              <a:rPr lang="ko-KR" altLang="en-US" dirty="0"/>
              <a:t>함수 </a:t>
            </a:r>
            <a:r>
              <a:rPr lang="en-US" altLang="ko-KR" dirty="0" err="1"/>
              <a:t>randint</a:t>
            </a:r>
            <a:r>
              <a:rPr lang="en-US" altLang="ko-KR" dirty="0"/>
              <a:t>(start, stop): [start, stop] </a:t>
            </a:r>
          </a:p>
          <a:p>
            <a:pPr lvl="2"/>
            <a:r>
              <a:rPr lang="ko-KR" altLang="en-US" dirty="0"/>
              <a:t>정수 시작과 끝 수 사이 임의의 정수를 반환</a:t>
            </a:r>
            <a:endParaRPr lang="en-US" altLang="ko-KR" dirty="0"/>
          </a:p>
          <a:p>
            <a:pPr lvl="1"/>
            <a:r>
              <a:rPr lang="ko-KR" altLang="en-US" dirty="0"/>
              <a:t>함수 </a:t>
            </a:r>
            <a:r>
              <a:rPr lang="en-US" altLang="ko-KR" dirty="0" err="1"/>
              <a:t>randrange</a:t>
            </a:r>
            <a:r>
              <a:rPr lang="en-US" altLang="ko-KR" dirty="0"/>
              <a:t>(start, stop, step): [start, stop) </a:t>
            </a:r>
          </a:p>
          <a:p>
            <a:pPr lvl="2"/>
            <a:r>
              <a:rPr lang="en-US" altLang="ko-KR" dirty="0"/>
              <a:t>start </a:t>
            </a:r>
            <a:r>
              <a:rPr lang="ko-KR" altLang="en-US" dirty="0"/>
              <a:t>이상 </a:t>
            </a:r>
            <a:r>
              <a:rPr lang="en-US" altLang="ko-KR" dirty="0"/>
              <a:t>stop </a:t>
            </a:r>
            <a:r>
              <a:rPr lang="ko-KR" altLang="en-US" dirty="0"/>
              <a:t>미만</a:t>
            </a:r>
            <a:r>
              <a:rPr lang="en-US" altLang="ko-KR" dirty="0"/>
              <a:t>, step </a:t>
            </a:r>
            <a:r>
              <a:rPr lang="ko-KR" altLang="en-US" dirty="0"/>
              <a:t>간격의 정수에서 하나의 난수를 반환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FDEC79-F0E1-4A74-AC91-ECE89B6EAB7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던진 주사위의 수처럼 난수</a:t>
            </a:r>
            <a:r>
              <a:rPr lang="en-US" altLang="ko-KR" dirty="0"/>
              <a:t>(random number)</a:t>
            </a:r>
            <a:r>
              <a:rPr lang="ko-KR" altLang="en-US" dirty="0"/>
              <a:t>는 주어진 범위의 수 중에서 예측할 수 없는 임의의 수 또는 무작위 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8BFBFE-8E67-4323-8377-0BCB2707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206" y="3347553"/>
            <a:ext cx="2676525" cy="10763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EC99F3-4A1F-43D4-B9F4-AC6799D73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06" y="4883556"/>
            <a:ext cx="34099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84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46BDA-FE2E-4C05-B9A0-10381CDE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파이썬 모듈 </a:t>
            </a:r>
            <a:r>
              <a:rPr lang="en-US" altLang="ko-KR" dirty="0"/>
              <a:t>random </a:t>
            </a:r>
            <a:r>
              <a:rPr lang="ko-KR" altLang="en-US" dirty="0"/>
              <a:t>주요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D94E19-BDD2-4A31-8E65-5830E915D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FE35B5-8AB5-48B9-AA49-0927399EF08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DA5B9A2-8BE7-4CB6-8A0F-E1FAE1509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330402"/>
              </p:ext>
            </p:extLst>
          </p:nvPr>
        </p:nvGraphicFramePr>
        <p:xfrm>
          <a:off x="587142" y="2210488"/>
          <a:ext cx="9721515" cy="48555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0611">
                  <a:extLst>
                    <a:ext uri="{9D8B030D-6E8A-4147-A177-3AD203B41FA5}">
                      <a16:colId xmlns:a16="http://schemas.microsoft.com/office/drawing/2014/main" val="3923894979"/>
                    </a:ext>
                  </a:extLst>
                </a:gridCol>
                <a:gridCol w="4319695">
                  <a:extLst>
                    <a:ext uri="{9D8B030D-6E8A-4147-A177-3AD203B41FA5}">
                      <a16:colId xmlns:a16="http://schemas.microsoft.com/office/drawing/2014/main" val="2830584414"/>
                    </a:ext>
                  </a:extLst>
                </a:gridCol>
                <a:gridCol w="3051209">
                  <a:extLst>
                    <a:ext uri="{9D8B030D-6E8A-4147-A177-3AD203B41FA5}">
                      <a16:colId xmlns:a16="http://schemas.microsoft.com/office/drawing/2014/main" val="4089708443"/>
                    </a:ext>
                  </a:extLst>
                </a:gridCol>
              </a:tblGrid>
              <a:tr h="3883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400" dirty="0">
                          <a:effectLst/>
                        </a:rPr>
                        <a:t>이름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400" dirty="0">
                          <a:effectLst/>
                        </a:rPr>
                        <a:t>설명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400" dirty="0">
                          <a:effectLst/>
                        </a:rPr>
                        <a:t>예제 코드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9664203"/>
                  </a:ext>
                </a:extLst>
              </a:tr>
              <a:tr h="36270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random()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0 </a:t>
                      </a:r>
                      <a:r>
                        <a:rPr lang="ja-JP" sz="1200" dirty="0">
                          <a:effectLst/>
                        </a:rPr>
                        <a:t>이상</a:t>
                      </a:r>
                      <a:r>
                        <a:rPr lang="en-US" sz="1200" dirty="0">
                          <a:effectLst/>
                        </a:rPr>
                        <a:t> 1 </a:t>
                      </a:r>
                      <a:r>
                        <a:rPr lang="ja-JP" sz="1200" dirty="0">
                          <a:effectLst/>
                        </a:rPr>
                        <a:t>미만</a:t>
                      </a:r>
                      <a:r>
                        <a:rPr lang="en-US" sz="1200" dirty="0">
                          <a:effectLst/>
                        </a:rPr>
                        <a:t>(0&lt;= x &lt;1)</a:t>
                      </a:r>
                      <a:r>
                        <a:rPr lang="ja-JP" sz="1200" dirty="0">
                          <a:effectLst/>
                        </a:rPr>
                        <a:t>의 난수 실수를 반환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random.random</a:t>
                      </a:r>
                      <a:r>
                        <a:rPr lang="en-US" sz="1400" dirty="0">
                          <a:effectLst/>
                        </a:rPr>
                        <a:t>()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7766002"/>
                  </a:ext>
                </a:extLst>
              </a:tr>
              <a:tr h="35132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uniform(a, b)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a </a:t>
                      </a:r>
                      <a:r>
                        <a:rPr lang="ja-JP" sz="1200" dirty="0">
                          <a:effectLst/>
                        </a:rPr>
                        <a:t>이상</a:t>
                      </a:r>
                      <a:r>
                        <a:rPr lang="en-US" sz="1200" dirty="0">
                          <a:effectLst/>
                        </a:rPr>
                        <a:t> b </a:t>
                      </a:r>
                      <a:r>
                        <a:rPr lang="ja-JP" sz="1200" dirty="0">
                          <a:effectLst/>
                        </a:rPr>
                        <a:t>미만</a:t>
                      </a:r>
                      <a:r>
                        <a:rPr lang="en-US" sz="1200" dirty="0">
                          <a:effectLst/>
                        </a:rPr>
                        <a:t>(a&lt;= x &lt;b)</a:t>
                      </a:r>
                      <a:r>
                        <a:rPr lang="ja-JP" sz="1200" dirty="0">
                          <a:effectLst/>
                        </a:rPr>
                        <a:t>의 난수 실수를 반환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random.uniform</a:t>
                      </a:r>
                      <a:r>
                        <a:rPr lang="en-US" sz="1400" dirty="0">
                          <a:effectLst/>
                        </a:rPr>
                        <a:t>(10, 20)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8113322"/>
                  </a:ext>
                </a:extLst>
              </a:tr>
              <a:tr h="35922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randrange</a:t>
                      </a:r>
                      <a:r>
                        <a:rPr lang="en-US" sz="1200" dirty="0">
                          <a:effectLst/>
                        </a:rPr>
                        <a:t>(stop)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0 </a:t>
                      </a:r>
                      <a:r>
                        <a:rPr lang="ja-JP" sz="1200" dirty="0">
                          <a:effectLst/>
                        </a:rPr>
                        <a:t>이상</a:t>
                      </a:r>
                      <a:r>
                        <a:rPr lang="en-US" sz="1200" dirty="0">
                          <a:effectLst/>
                        </a:rPr>
                        <a:t> stop </a:t>
                      </a:r>
                      <a:r>
                        <a:rPr lang="ja-JP" sz="1200" dirty="0">
                          <a:effectLst/>
                        </a:rPr>
                        <a:t>미만</a:t>
                      </a:r>
                      <a:r>
                        <a:rPr lang="en-US" sz="1200" dirty="0">
                          <a:effectLst/>
                        </a:rPr>
                        <a:t>(0&lt;= x &lt;stop)</a:t>
                      </a:r>
                      <a:r>
                        <a:rPr lang="ja-JP" sz="1200" dirty="0">
                          <a:effectLst/>
                        </a:rPr>
                        <a:t>의 정수를 반환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random.randrange</a:t>
                      </a:r>
                      <a:r>
                        <a:rPr lang="en-US" sz="1400" dirty="0">
                          <a:effectLst/>
                        </a:rPr>
                        <a:t>(10)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6237568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randrange(start, stop, step)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start </a:t>
                      </a:r>
                      <a:r>
                        <a:rPr lang="ja-JP" sz="1200" dirty="0">
                          <a:effectLst/>
                        </a:rPr>
                        <a:t>이상</a:t>
                      </a:r>
                      <a:r>
                        <a:rPr lang="en-US" sz="1200" dirty="0">
                          <a:effectLst/>
                        </a:rPr>
                        <a:t> stop </a:t>
                      </a:r>
                      <a:r>
                        <a:rPr lang="ja-JP" sz="1200" dirty="0">
                          <a:effectLst/>
                        </a:rPr>
                        <a:t>미만</a:t>
                      </a:r>
                      <a:r>
                        <a:rPr lang="en-US" sz="1200" dirty="0">
                          <a:effectLst/>
                        </a:rPr>
                        <a:t>(start&lt;= x &lt;stop), step </a:t>
                      </a:r>
                      <a:r>
                        <a:rPr lang="ja-JP" sz="1200" dirty="0">
                          <a:effectLst/>
                        </a:rPr>
                        <a:t>간격의 정수를 반환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random.randrange(1, 10, 2)</a:t>
                      </a:r>
                      <a:endParaRPr lang="ko-KR" sz="14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5167277"/>
                  </a:ext>
                </a:extLst>
              </a:tr>
              <a:tr h="35461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randint</a:t>
                      </a:r>
                      <a:r>
                        <a:rPr lang="en-US" sz="1200" dirty="0">
                          <a:effectLst/>
                        </a:rPr>
                        <a:t>(a, b)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a </a:t>
                      </a:r>
                      <a:r>
                        <a:rPr lang="ja-JP" sz="1200" dirty="0">
                          <a:effectLst/>
                        </a:rPr>
                        <a:t>이상</a:t>
                      </a:r>
                      <a:r>
                        <a:rPr lang="en-US" sz="1200" dirty="0">
                          <a:effectLst/>
                        </a:rPr>
                        <a:t> b </a:t>
                      </a:r>
                      <a:r>
                        <a:rPr lang="ja-JP" sz="1200" dirty="0">
                          <a:effectLst/>
                        </a:rPr>
                        <a:t>이하</a:t>
                      </a:r>
                      <a:r>
                        <a:rPr lang="en-US" sz="1200" dirty="0">
                          <a:effectLst/>
                        </a:rPr>
                        <a:t>(a&lt;= x &lt;=b)</a:t>
                      </a:r>
                      <a:r>
                        <a:rPr lang="ja-JP" sz="1200" dirty="0">
                          <a:effectLst/>
                        </a:rPr>
                        <a:t>의 정수를 반환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random.randint</a:t>
                      </a:r>
                      <a:r>
                        <a:rPr lang="en-US" sz="1400" dirty="0">
                          <a:effectLst/>
                        </a:rPr>
                        <a:t>(1, 6)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8895722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choice(seq)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주어진 시퀀스에서 임의의 요소를 선택하여 반환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random.choice</a:t>
                      </a:r>
                      <a:r>
                        <a:rPr lang="en-US" sz="1400" dirty="0">
                          <a:effectLst/>
                        </a:rPr>
                        <a:t>([1, 2, 3, 4, 5])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6340320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choices(population,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           weights=None, k=1)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모집단에서 중복을 허용하며 가중치를 고려하여</a:t>
                      </a:r>
                      <a:r>
                        <a:rPr lang="en-US" sz="1200" dirty="0">
                          <a:effectLst/>
                        </a:rPr>
                        <a:t> k</a:t>
                      </a:r>
                      <a:r>
                        <a:rPr lang="ja-JP" sz="1200" dirty="0">
                          <a:effectLst/>
                        </a:rPr>
                        <a:t>개의 요소를 무작위로 추출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random.choices</a:t>
                      </a:r>
                      <a:r>
                        <a:rPr lang="en-US" sz="1400" dirty="0">
                          <a:effectLst/>
                        </a:rPr>
                        <a:t>([1, 2, 3, 4, 5],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weights=[0.1, 0.2, 0.3, 0.2, 0.2], k=3)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9483135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shuffle(seq)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시퀀스의 요소를 무작위로 섞음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mylist</a:t>
                      </a:r>
                      <a:r>
                        <a:rPr lang="en-US" sz="1400" dirty="0">
                          <a:effectLst/>
                        </a:rPr>
                        <a:t> = [1, 2, 3, 4, 5]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 err="1">
                          <a:effectLst/>
                        </a:rPr>
                        <a:t>random.shuffle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mylist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0536004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sample(population, k)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모집단에서 중복 없이</a:t>
                      </a:r>
                      <a:r>
                        <a:rPr lang="en-US" sz="1200" dirty="0">
                          <a:effectLst/>
                        </a:rPr>
                        <a:t> k</a:t>
                      </a:r>
                      <a:r>
                        <a:rPr lang="ja-JP" sz="1200" dirty="0">
                          <a:effectLst/>
                        </a:rPr>
                        <a:t>개의 요소를 무작위로 추출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random.sample</a:t>
                      </a:r>
                      <a:r>
                        <a:rPr lang="en-US" sz="1400" dirty="0">
                          <a:effectLst/>
                        </a:rPr>
                        <a:t>([1, 2, 3, 4, 5], 3)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3326360"/>
                  </a:ext>
                </a:extLst>
              </a:tr>
              <a:tr h="26523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seed(a=None)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시드 값을 설정하여 재현성 확보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random.seed</a:t>
                      </a:r>
                      <a:r>
                        <a:rPr lang="en-US" sz="1400" dirty="0">
                          <a:effectLst/>
                        </a:rPr>
                        <a:t>(42)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7924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28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1DC97-D27C-4E24-83FD-74005DB5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 패키지 </a:t>
            </a:r>
            <a:r>
              <a:rPr lang="en-US" altLang="ko-KR" dirty="0" err="1"/>
              <a:t>numpy</a:t>
            </a:r>
            <a:r>
              <a:rPr lang="ko-KR" altLang="en-US" dirty="0"/>
              <a:t>의 난수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4CE3F-DA4F-4D41-9EE2-3F7015A32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패키지 </a:t>
            </a:r>
            <a:r>
              <a:rPr lang="en-US" altLang="ko-KR" dirty="0" err="1"/>
              <a:t>numpy</a:t>
            </a:r>
            <a:r>
              <a:rPr lang="ko-KR" altLang="en-US" dirty="0"/>
              <a:t>의 모듈 </a:t>
            </a:r>
            <a:r>
              <a:rPr lang="en-US" altLang="ko-KR" dirty="0"/>
              <a:t>random</a:t>
            </a:r>
            <a:r>
              <a:rPr lang="ko-KR" altLang="en-US" dirty="0"/>
              <a:t>의 </a:t>
            </a:r>
            <a:r>
              <a:rPr lang="en-US" altLang="ko-KR" dirty="0"/>
              <a:t>rand()</a:t>
            </a:r>
            <a:r>
              <a:rPr lang="ko-KR" altLang="en-US" dirty="0"/>
              <a:t>와 </a:t>
            </a:r>
            <a:r>
              <a:rPr lang="en-US" altLang="ko-KR" dirty="0"/>
              <a:t>random()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모듈 </a:t>
            </a:r>
            <a:r>
              <a:rPr lang="en-US" altLang="ko-KR" dirty="0"/>
              <a:t>random</a:t>
            </a:r>
            <a:r>
              <a:rPr lang="ko-KR" altLang="en-US" dirty="0"/>
              <a:t>의 함수 </a:t>
            </a:r>
            <a:r>
              <a:rPr lang="en-US" altLang="ko-KR" dirty="0"/>
              <a:t>rand()</a:t>
            </a:r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을 제외한 </a:t>
            </a:r>
            <a:r>
              <a:rPr lang="en-US" altLang="ko-KR" dirty="0"/>
              <a:t>[0, 1) </a:t>
            </a:r>
            <a:r>
              <a:rPr lang="ko-KR" altLang="en-US" dirty="0"/>
              <a:t>사이의 실수인 난수를 반환</a:t>
            </a:r>
            <a:endParaRPr lang="en-US" altLang="ko-KR" dirty="0"/>
          </a:p>
          <a:p>
            <a:pPr lvl="2"/>
            <a:r>
              <a:rPr lang="ko-KR" altLang="en-US" dirty="0"/>
              <a:t>함수 </a:t>
            </a:r>
            <a:r>
              <a:rPr lang="en-US" altLang="ko-KR" dirty="0"/>
              <a:t>rand(d0, d1, d2, …) </a:t>
            </a:r>
            <a:r>
              <a:rPr lang="ko-KR" altLang="en-US" dirty="0"/>
              <a:t>호출에서 인자가 있다면</a:t>
            </a:r>
            <a:endParaRPr lang="en-US" altLang="ko-KR" dirty="0"/>
          </a:p>
          <a:p>
            <a:pPr lvl="3"/>
            <a:r>
              <a:rPr lang="ko-KR" altLang="en-US" dirty="0"/>
              <a:t>지정한 차수의 난수 배열을 생성</a:t>
            </a:r>
            <a:endParaRPr lang="en-US" altLang="ko-KR" dirty="0"/>
          </a:p>
          <a:p>
            <a:pPr lvl="1"/>
            <a:r>
              <a:rPr lang="ko-KR" altLang="en-US" dirty="0"/>
              <a:t>모듈 </a:t>
            </a:r>
            <a:r>
              <a:rPr lang="en-US" altLang="ko-KR" dirty="0"/>
              <a:t>random</a:t>
            </a:r>
            <a:r>
              <a:rPr lang="ko-KR" altLang="en-US" dirty="0"/>
              <a:t>의 함수 </a:t>
            </a:r>
            <a:r>
              <a:rPr lang="en-US" altLang="ko-KR" dirty="0"/>
              <a:t>random()</a:t>
            </a:r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을 제외한 </a:t>
            </a:r>
            <a:r>
              <a:rPr lang="en-US" altLang="ko-KR" dirty="0"/>
              <a:t>[0, 1) </a:t>
            </a:r>
            <a:r>
              <a:rPr lang="ko-KR" altLang="en-US" dirty="0"/>
              <a:t>사이의 실수인 난수를 반환</a:t>
            </a:r>
            <a:endParaRPr lang="en-US" altLang="ko-KR" dirty="0"/>
          </a:p>
          <a:p>
            <a:pPr lvl="2"/>
            <a:r>
              <a:rPr lang="en-US" altLang="ko-KR" dirty="0"/>
              <a:t>random((2, 3)) </a:t>
            </a:r>
            <a:r>
              <a:rPr lang="ko-KR" altLang="en-US" dirty="0"/>
              <a:t>호출로는 </a:t>
            </a:r>
            <a:r>
              <a:rPr lang="en-US" altLang="ko-KR" dirty="0"/>
              <a:t>[2</a:t>
            </a:r>
            <a:r>
              <a:rPr lang="ko-KR" altLang="en-US" dirty="0"/>
              <a:t>행 </a:t>
            </a:r>
            <a:r>
              <a:rPr lang="en-US" altLang="ko-KR" dirty="0"/>
              <a:t>3</a:t>
            </a:r>
            <a:r>
              <a:rPr lang="ko-KR" altLang="en-US" dirty="0"/>
              <a:t>열</a:t>
            </a:r>
            <a:r>
              <a:rPr lang="en-US" altLang="ko-KR" dirty="0"/>
              <a:t>]</a:t>
            </a:r>
            <a:r>
              <a:rPr lang="ko-KR" altLang="en-US" dirty="0"/>
              <a:t>의 난수 </a:t>
            </a:r>
            <a:r>
              <a:rPr lang="en-US" altLang="ko-KR" dirty="0"/>
              <a:t>6</a:t>
            </a:r>
            <a:r>
              <a:rPr lang="ko-KR" altLang="en-US" dirty="0"/>
              <a:t>개를 생성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FDD272-42F1-4304-A923-01D33A1E10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서드</a:t>
            </a:r>
            <a:r>
              <a:rPr lang="ko-KR" altLang="en-US" dirty="0"/>
              <a:t> 파티 </a:t>
            </a:r>
            <a:r>
              <a:rPr lang="ko-KR" altLang="en-US" dirty="0" err="1"/>
              <a:t>패지키이므로</a:t>
            </a:r>
            <a:r>
              <a:rPr lang="ko-KR" altLang="en-US" dirty="0"/>
              <a:t> </a:t>
            </a:r>
            <a:r>
              <a:rPr lang="en-US" altLang="ko-KR" dirty="0"/>
              <a:t>pip install </a:t>
            </a:r>
            <a:r>
              <a:rPr lang="en-US" altLang="ko-KR" dirty="0" err="1"/>
              <a:t>numpy</a:t>
            </a:r>
            <a:r>
              <a:rPr lang="ko-KR" altLang="en-US" dirty="0"/>
              <a:t>로 설치가 필요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250956-2917-4951-B0EC-3911FA07F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586" y="4104890"/>
            <a:ext cx="41338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4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31117-86DD-4A50-9E73-3B659860B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 </a:t>
            </a:r>
            <a:r>
              <a:rPr lang="en-US" altLang="ko-KR" dirty="0" err="1"/>
              <a:t>numpy</a:t>
            </a:r>
            <a:r>
              <a:rPr lang="ko-KR" altLang="en-US" dirty="0"/>
              <a:t>의 모듈 </a:t>
            </a:r>
            <a:r>
              <a:rPr lang="en-US" altLang="ko-KR" dirty="0"/>
              <a:t>random</a:t>
            </a:r>
            <a:r>
              <a:rPr lang="ko-KR" altLang="en-US" dirty="0"/>
              <a:t>의 </a:t>
            </a:r>
            <a:r>
              <a:rPr lang="en-US" altLang="ko-KR" dirty="0" err="1"/>
              <a:t>randint</a:t>
            </a:r>
            <a:r>
              <a:rPr lang="en-US" altLang="ko-KR" dirty="0"/>
              <a:t>()</a:t>
            </a:r>
            <a:r>
              <a:rPr lang="ko-KR" altLang="en-US" dirty="0"/>
              <a:t>와 </a:t>
            </a:r>
            <a:r>
              <a:rPr lang="en-US" altLang="ko-KR" dirty="0"/>
              <a:t>choice()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024F5-8E44-4A23-9179-0B7601EA7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</a:t>
            </a:r>
            <a:r>
              <a:rPr lang="en-US" altLang="ko-KR" dirty="0" err="1"/>
              <a:t>randint</a:t>
            </a:r>
            <a:r>
              <a:rPr lang="en-US" altLang="ko-KR" dirty="0"/>
              <a:t>(low=0, high, size=None): [low, high)</a:t>
            </a:r>
          </a:p>
          <a:p>
            <a:pPr lvl="1"/>
            <a:r>
              <a:rPr lang="en-US" altLang="ko-KR" dirty="0"/>
              <a:t>high</a:t>
            </a:r>
            <a:r>
              <a:rPr lang="ko-KR" altLang="en-US" dirty="0"/>
              <a:t>를 제외한 일정 범위 </a:t>
            </a:r>
            <a:r>
              <a:rPr lang="en-US" altLang="ko-KR" dirty="0"/>
              <a:t>low &lt;= x &lt; high </a:t>
            </a:r>
            <a:r>
              <a:rPr lang="ko-KR" altLang="en-US" dirty="0"/>
              <a:t>내의 정수를 </a:t>
            </a:r>
            <a:r>
              <a:rPr lang="en-US" altLang="ko-KR" dirty="0"/>
              <a:t>size</a:t>
            </a:r>
            <a:r>
              <a:rPr lang="ko-KR" altLang="en-US" dirty="0"/>
              <a:t>로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함수 </a:t>
            </a:r>
            <a:r>
              <a:rPr lang="en-US" altLang="ko-KR" dirty="0"/>
              <a:t>choice(a, size=None, replace=True, p=None)</a:t>
            </a:r>
          </a:p>
          <a:p>
            <a:pPr lvl="1"/>
            <a:r>
              <a:rPr lang="ko-KR" altLang="en-US" dirty="0"/>
              <a:t>주어진 배열 </a:t>
            </a:r>
            <a:r>
              <a:rPr lang="en-US" altLang="ko-KR" dirty="0"/>
              <a:t>a</a:t>
            </a:r>
            <a:r>
              <a:rPr lang="ko-KR" altLang="en-US" dirty="0"/>
              <a:t>에서 중복을 허용해 무작위로 </a:t>
            </a:r>
            <a:r>
              <a:rPr lang="en-US" altLang="ko-KR" dirty="0"/>
              <a:t>size </a:t>
            </a:r>
            <a:r>
              <a:rPr lang="ko-KR" altLang="en-US" dirty="0"/>
              <a:t>차원의 요소를 선택</a:t>
            </a:r>
            <a:endParaRPr lang="en-US" altLang="ko-KR" dirty="0"/>
          </a:p>
          <a:p>
            <a:pPr lvl="2"/>
            <a:r>
              <a:rPr lang="ko-KR" altLang="en-US" dirty="0"/>
              <a:t>매개변수 </a:t>
            </a:r>
            <a:r>
              <a:rPr lang="en-US" altLang="ko-KR" dirty="0"/>
              <a:t>replace</a:t>
            </a:r>
            <a:r>
              <a:rPr lang="ko-KR" altLang="en-US" dirty="0"/>
              <a:t>로 중복 허용</a:t>
            </a:r>
            <a:r>
              <a:rPr lang="en-US" altLang="ko-KR" dirty="0"/>
              <a:t>(</a:t>
            </a:r>
            <a:r>
              <a:rPr lang="ko-KR" altLang="en-US" dirty="0" err="1"/>
              <a:t>재선택</a:t>
            </a:r>
            <a:r>
              <a:rPr lang="en-US" altLang="ko-KR" dirty="0"/>
              <a:t>) </a:t>
            </a:r>
            <a:r>
              <a:rPr lang="ko-KR" altLang="en-US" dirty="0"/>
              <a:t>여부를 지정</a:t>
            </a:r>
            <a:endParaRPr lang="en-US" altLang="ko-KR" dirty="0"/>
          </a:p>
          <a:p>
            <a:pPr lvl="2"/>
            <a:r>
              <a:rPr lang="en-US" altLang="ko-KR" dirty="0"/>
              <a:t>p</a:t>
            </a:r>
            <a:r>
              <a:rPr lang="ko-KR" altLang="en-US" dirty="0"/>
              <a:t>로 </a:t>
            </a:r>
            <a:r>
              <a:rPr lang="en-US" altLang="ko-KR" dirty="0"/>
              <a:t>a</a:t>
            </a:r>
            <a:r>
              <a:rPr lang="ko-KR" altLang="en-US" dirty="0"/>
              <a:t>에서 선택되는 원소들의 확률을 지정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D94C5B-469E-450E-8069-30096604B80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A45F58-4522-4482-8EF8-F8BE7BF67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389" y="2356456"/>
            <a:ext cx="4695825" cy="11334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F50B8F-6CCB-4397-ABE1-8655B307A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89" y="3633515"/>
            <a:ext cx="3171825" cy="685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F1DFA0-444F-45FA-8758-3D76CC1E1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264" y="5539752"/>
            <a:ext cx="52006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0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0C07E-0FED-45FF-A501-21A631C4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</a:t>
            </a:r>
            <a:r>
              <a:rPr lang="en-US" altLang="ko-KR" dirty="0"/>
              <a:t>random</a:t>
            </a:r>
            <a:r>
              <a:rPr lang="ko-KR" altLang="en-US" dirty="0"/>
              <a:t>의 확률분포의 난수 발생 함수 </a:t>
            </a:r>
            <a:r>
              <a:rPr lang="en-US" altLang="ko-KR" dirty="0" err="1"/>
              <a:t>randn</a:t>
            </a:r>
            <a:r>
              <a:rPr lang="en-US" altLang="ko-KR" dirty="0"/>
              <a:t>()</a:t>
            </a:r>
            <a:r>
              <a:rPr lang="ko-KR" altLang="en-US" dirty="0"/>
              <a:t>과 </a:t>
            </a:r>
            <a:r>
              <a:rPr lang="en-US" altLang="ko-KR" dirty="0"/>
              <a:t>uniform()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42FBA-0B90-4AB0-9C02-68AEAB8FB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</a:t>
            </a:r>
            <a:r>
              <a:rPr lang="en-US" altLang="ko-KR" dirty="0" err="1"/>
              <a:t>randn</a:t>
            </a:r>
            <a:r>
              <a:rPr lang="en-US" altLang="ko-KR" dirty="0"/>
              <a:t>()</a:t>
            </a:r>
          </a:p>
          <a:p>
            <a:pPr lvl="1"/>
            <a:r>
              <a:rPr lang="ko-KR" altLang="en-US" dirty="0"/>
              <a:t>표준 정규분포의 난수를 반환</a:t>
            </a:r>
            <a:endParaRPr lang="en-US" altLang="ko-KR" dirty="0"/>
          </a:p>
          <a:p>
            <a:pPr lvl="2"/>
            <a:r>
              <a:rPr lang="en-US" altLang="ko-KR" dirty="0" err="1"/>
              <a:t>randn</a:t>
            </a:r>
            <a:r>
              <a:rPr lang="ko-KR" altLang="en-US" dirty="0"/>
              <a:t>에서 마지막 문자 </a:t>
            </a:r>
            <a:r>
              <a:rPr lang="en-US" altLang="ko-KR" dirty="0"/>
              <a:t>n</a:t>
            </a:r>
            <a:r>
              <a:rPr lang="ko-KR" altLang="en-US" dirty="0"/>
              <a:t>은 정규 분포에서 </a:t>
            </a:r>
            <a:r>
              <a:rPr lang="en-US" altLang="ko-KR" dirty="0"/>
              <a:t>normal</a:t>
            </a:r>
            <a:r>
              <a:rPr lang="ko-KR" altLang="en-US" dirty="0"/>
              <a:t>을 의미</a:t>
            </a:r>
            <a:endParaRPr lang="en-US" altLang="ko-KR" dirty="0"/>
          </a:p>
          <a:p>
            <a:pPr lvl="2"/>
            <a:r>
              <a:rPr lang="ko-KR" altLang="en-US" dirty="0"/>
              <a:t>표준 정규분포는 평균이 </a:t>
            </a:r>
            <a:r>
              <a:rPr lang="en-US" altLang="ko-KR" dirty="0"/>
              <a:t>0, </a:t>
            </a:r>
            <a:r>
              <a:rPr lang="ko-KR" altLang="en-US" dirty="0"/>
              <a:t>표준 편차가 </a:t>
            </a:r>
            <a:r>
              <a:rPr lang="en-US" altLang="ko-KR" dirty="0"/>
              <a:t>1</a:t>
            </a:r>
            <a:r>
              <a:rPr lang="ko-KR" altLang="en-US" dirty="0"/>
              <a:t>인 분포</a:t>
            </a:r>
            <a:endParaRPr lang="en-US" altLang="ko-KR" dirty="0"/>
          </a:p>
          <a:p>
            <a:pPr lvl="3"/>
            <a:r>
              <a:rPr lang="en-US" altLang="ko-KR" dirty="0"/>
              <a:t>0 </a:t>
            </a:r>
            <a:r>
              <a:rPr lang="ko-KR" altLang="en-US" dirty="0"/>
              <a:t>주위의 실수가 선택될 확률이 높으면 </a:t>
            </a:r>
            <a:r>
              <a:rPr lang="en-US" altLang="ko-KR" dirty="0"/>
              <a:t>-3</a:t>
            </a:r>
            <a:r>
              <a:rPr lang="ko-KR" altLang="en-US" dirty="0"/>
              <a:t>에서 </a:t>
            </a:r>
            <a:r>
              <a:rPr lang="en-US" altLang="ko-KR" dirty="0"/>
              <a:t>3</a:t>
            </a:r>
            <a:r>
              <a:rPr lang="ko-KR" altLang="en-US" dirty="0"/>
              <a:t>사이의 실수가 선택될 확률이 </a:t>
            </a:r>
            <a:r>
              <a:rPr lang="en-US" altLang="ko-KR" dirty="0"/>
              <a:t>99.7%</a:t>
            </a:r>
            <a:r>
              <a:rPr lang="ko-KR" altLang="en-US" dirty="0"/>
              <a:t>인 확률 분포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34C2EE-397B-4522-9BD0-C69A43E4A0F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48E2DD-2066-42DE-ADA2-58FA0EB777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4" y="3447415"/>
            <a:ext cx="3785028" cy="38293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497F7B-5AAF-44A2-BFA5-B4345BDC8DD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634" y="3666148"/>
            <a:ext cx="4658017" cy="3364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2F601D-883B-4737-AE2E-5464BFA9A1AA}"/>
              </a:ext>
            </a:extLst>
          </p:cNvPr>
          <p:cNvSpPr txBox="1"/>
          <p:nvPr/>
        </p:nvSpPr>
        <p:spPr>
          <a:xfrm>
            <a:off x="7977003" y="4075084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68 95 99.7 </a:t>
            </a:r>
            <a:r>
              <a:rPr lang="ko-KR" altLang="en-US" dirty="0">
                <a:solidFill>
                  <a:srgbClr val="FF0000"/>
                </a:solidFill>
              </a:rPr>
              <a:t>룰</a:t>
            </a:r>
            <a:r>
              <a:rPr lang="en-US" altLang="ko-KR" dirty="0">
                <a:solidFill>
                  <a:srgbClr val="FF0000"/>
                </a:solidFill>
              </a:rPr>
              <a:t>(rule) 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096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A2E3C-5527-4F14-BD7A-B2E19B8B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</a:t>
            </a:r>
            <a:r>
              <a:rPr lang="en-US" altLang="ko-KR" dirty="0" err="1"/>
              <a:t>numpy</a:t>
            </a:r>
            <a:r>
              <a:rPr lang="ko-KR" altLang="en-US" dirty="0"/>
              <a:t>의 모듈 </a:t>
            </a:r>
            <a:r>
              <a:rPr lang="en-US" altLang="ko-KR" dirty="0"/>
              <a:t>random </a:t>
            </a:r>
            <a:r>
              <a:rPr lang="ko-KR" altLang="en-US" dirty="0"/>
              <a:t>함수 정리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7371DA5C-14AD-40AB-A653-A67EB8EAF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509106"/>
              </p:ext>
            </p:extLst>
          </p:nvPr>
        </p:nvGraphicFramePr>
        <p:xfrm>
          <a:off x="673768" y="1864392"/>
          <a:ext cx="9452009" cy="4511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6059">
                  <a:extLst>
                    <a:ext uri="{9D8B030D-6E8A-4147-A177-3AD203B41FA5}">
                      <a16:colId xmlns:a16="http://schemas.microsoft.com/office/drawing/2014/main" val="303612805"/>
                    </a:ext>
                  </a:extLst>
                </a:gridCol>
                <a:gridCol w="4340994">
                  <a:extLst>
                    <a:ext uri="{9D8B030D-6E8A-4147-A177-3AD203B41FA5}">
                      <a16:colId xmlns:a16="http://schemas.microsoft.com/office/drawing/2014/main" val="2158982323"/>
                    </a:ext>
                  </a:extLst>
                </a:gridCol>
                <a:gridCol w="2954956">
                  <a:extLst>
                    <a:ext uri="{9D8B030D-6E8A-4147-A177-3AD203B41FA5}">
                      <a16:colId xmlns:a16="http://schemas.microsoft.com/office/drawing/2014/main" val="569928694"/>
                    </a:ext>
                  </a:extLst>
                </a:gridCol>
              </a:tblGrid>
              <a:tr h="269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400" dirty="0">
                          <a:effectLst/>
                        </a:rPr>
                        <a:t>이름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400" dirty="0">
                          <a:effectLst/>
                        </a:rPr>
                        <a:t>설명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400">
                          <a:effectLst/>
                        </a:rPr>
                        <a:t>예제 코드</a:t>
                      </a:r>
                      <a:endParaRPr lang="ko-KR" sz="14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1511108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rand(d0, d1, ..., </a:t>
                      </a:r>
                      <a:r>
                        <a:rPr lang="en-US" sz="1200" dirty="0" err="1">
                          <a:effectLst/>
                        </a:rPr>
                        <a:t>dn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주어진 차원의 </a:t>
                      </a:r>
                      <a:r>
                        <a:rPr lang="en-US" sz="1200" dirty="0">
                          <a:effectLst/>
                        </a:rPr>
                        <a:t>0</a:t>
                      </a:r>
                      <a:r>
                        <a:rPr lang="ja-JP" sz="1200" dirty="0">
                          <a:effectLst/>
                        </a:rPr>
                        <a:t>에서</a:t>
                      </a:r>
                      <a:r>
                        <a:rPr lang="en-US" sz="1200" dirty="0">
                          <a:effectLst/>
                        </a:rPr>
                        <a:t> 1 </a:t>
                      </a:r>
                      <a:r>
                        <a:rPr lang="ja-JP" sz="1200" dirty="0">
                          <a:effectLst/>
                        </a:rPr>
                        <a:t>사이 </a:t>
                      </a:r>
                      <a:r>
                        <a:rPr lang="en-US" sz="1200" dirty="0">
                          <a:effectLst/>
                        </a:rPr>
                        <a:t>[0.0, 1.0)</a:t>
                      </a:r>
                      <a:r>
                        <a:rPr lang="ja-JP" sz="1200" dirty="0">
                          <a:effectLst/>
                        </a:rPr>
                        <a:t>의 </a:t>
                      </a:r>
                      <a:r>
                        <a:rPr lang="ko-KR" sz="1200" dirty="0">
                          <a:effectLst/>
                        </a:rPr>
                        <a:t>실수인 </a:t>
                      </a:r>
                      <a:r>
                        <a:rPr lang="ja-JP" sz="1200" dirty="0">
                          <a:effectLst/>
                        </a:rPr>
                        <a:t>난수 배열을 생성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np.random.rand(2, 3)</a:t>
                      </a:r>
                      <a:endParaRPr lang="ko-KR" sz="14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0277465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random(size=None)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r>
                        <a:rPr lang="ja-JP" sz="1200" dirty="0">
                          <a:effectLst/>
                        </a:rPr>
                        <a:t>에서</a:t>
                      </a:r>
                      <a:r>
                        <a:rPr lang="en-US" sz="1200" dirty="0">
                          <a:effectLst/>
                        </a:rPr>
                        <a:t> 1 </a:t>
                      </a:r>
                      <a:r>
                        <a:rPr lang="ja-JP" sz="1200" dirty="0">
                          <a:effectLst/>
                        </a:rPr>
                        <a:t>사이 </a:t>
                      </a:r>
                      <a:r>
                        <a:rPr lang="en-US" sz="1200" dirty="0">
                          <a:effectLst/>
                        </a:rPr>
                        <a:t>[0.0, 1.0)</a:t>
                      </a:r>
                      <a:r>
                        <a:rPr lang="ja-JP" sz="1200" dirty="0">
                          <a:effectLst/>
                        </a:rPr>
                        <a:t>의 </a:t>
                      </a:r>
                      <a:r>
                        <a:rPr lang="ko-KR" sz="1200" dirty="0">
                          <a:effectLst/>
                        </a:rPr>
                        <a:t>실수인 난수</a:t>
                      </a:r>
                      <a:r>
                        <a:rPr lang="ja-JP" sz="1200" dirty="0">
                          <a:effectLst/>
                        </a:rPr>
                        <a:t>를 생성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np.random.random((3, 3))</a:t>
                      </a:r>
                      <a:endParaRPr lang="ko-KR" sz="14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0713976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randn(d0, d1, ..., dn)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주어진 차원의 표준 정규 분포에서 난수 배열을 생성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np.random.randn(4, 5)</a:t>
                      </a:r>
                      <a:endParaRPr lang="ko-KR" sz="14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7817383"/>
                  </a:ext>
                </a:extLst>
              </a:tr>
              <a:tr h="85827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randint</a:t>
                      </a:r>
                      <a:r>
                        <a:rPr lang="en-US" sz="1200" dirty="0">
                          <a:effectLst/>
                        </a:rPr>
                        <a:t>(low=0, high=None, size=None)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일정 범위</a:t>
                      </a:r>
                      <a:r>
                        <a:rPr lang="en-US" sz="1200" dirty="0">
                          <a:effectLst/>
                        </a:rPr>
                        <a:t> low &lt;= x &lt; high </a:t>
                      </a:r>
                      <a:r>
                        <a:rPr lang="ja-JP" sz="1200" dirty="0">
                          <a:effectLst/>
                        </a:rPr>
                        <a:t>내의 정수를 생성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ko-KR" sz="1200" dirty="0">
                          <a:effectLst/>
                        </a:rPr>
                        <a:t>정수 인자가 하나면 </a:t>
                      </a:r>
                      <a:r>
                        <a:rPr lang="en-US" sz="1200" dirty="0">
                          <a:effectLst/>
                        </a:rPr>
                        <a:t>[0, </a:t>
                      </a:r>
                      <a:r>
                        <a:rPr lang="ko-KR" sz="1200" dirty="0">
                          <a:effectLst/>
                        </a:rPr>
                        <a:t>인자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ko-KR" sz="1200" dirty="0">
                          <a:effectLst/>
                        </a:rPr>
                        <a:t>사이의 정수 난수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np.random.randint</a:t>
                      </a:r>
                      <a:r>
                        <a:rPr lang="en-US" sz="1400" dirty="0">
                          <a:effectLst/>
                        </a:rPr>
                        <a:t>(1, 100, 10)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9183082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uniform(low=0, high=1, size=None)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주어진 범위 내의 </a:t>
                      </a:r>
                      <a:r>
                        <a:rPr lang="ko-KR" sz="1200" dirty="0">
                          <a:effectLst/>
                        </a:rPr>
                        <a:t>실수인 </a:t>
                      </a:r>
                      <a:r>
                        <a:rPr lang="ja-JP" sz="1200" dirty="0">
                          <a:effectLst/>
                        </a:rPr>
                        <a:t>난수를 생성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np.random.uniform</a:t>
                      </a:r>
                      <a:r>
                        <a:rPr lang="en-US" sz="1400" dirty="0">
                          <a:effectLst/>
                        </a:rPr>
                        <a:t>(2, 5, (2, 2))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8571840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shuffle(x)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배열의 요소를 무작위로 섞</a:t>
                      </a:r>
                      <a:r>
                        <a:rPr lang="ko-KR" sz="1200" dirty="0">
                          <a:effectLst/>
                        </a:rPr>
                        <a:t>기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mylist</a:t>
                      </a:r>
                      <a:r>
                        <a:rPr lang="en-US" sz="1400" dirty="0">
                          <a:effectLst/>
                        </a:rPr>
                        <a:t> = [1, 2, 3, 4, 5]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 err="1">
                          <a:effectLst/>
                        </a:rPr>
                        <a:t>np.random.shuffle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mylist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56181551"/>
                  </a:ext>
                </a:extLst>
              </a:tr>
              <a:tr h="56393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choice(a, size=None, replace=True, p=None)</a:t>
                      </a:r>
                      <a:endParaRPr lang="ko-KR" sz="120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ja-JP" sz="1200" dirty="0">
                          <a:effectLst/>
                        </a:rPr>
                        <a:t>주어진 배열에서 무작위로 요소를 선택</a:t>
                      </a:r>
                      <a:endParaRPr lang="ko-KR" sz="12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np.random.choice</a:t>
                      </a:r>
                      <a:r>
                        <a:rPr lang="en-US" sz="1400" dirty="0">
                          <a:effectLst/>
                        </a:rPr>
                        <a:t>([1, 2, 3, 4, 5], 3)</a:t>
                      </a:r>
                      <a:endParaRPr lang="ko-KR" sz="1400" dirty="0">
                        <a:effectLst/>
                        <a:latin typeface="Georgia" panose="02040502050405020303" pitchFamily="18" charset="0"/>
                        <a:ea typeface="맑은 고딕" panose="020B0503020000020004" pitchFamily="50" charset="-127"/>
                        <a:cs typeface="Georgia" panose="020405020504050203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8219"/>
                  </a:ext>
                </a:extLst>
              </a:tr>
            </a:tbl>
          </a:graphicData>
        </a:graphic>
      </p:graphicFrame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763600-40CF-4567-BD8B-3AD7B869174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903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EA9B7-DEB6-439B-8711-BF6EB110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9-4 </a:t>
            </a:r>
            <a:r>
              <a:rPr lang="ko-KR" altLang="en-US" dirty="0"/>
              <a:t>코딩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D62978-5B3D-4D29-99A5-D6A770AE4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D80073-C05C-4131-B1C3-B5F1C24A190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BBB380-69D7-49B9-A2AC-D9F1608BB2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49667" y="2127751"/>
            <a:ext cx="7228573" cy="4571432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6A989C4-862B-45F1-8D9B-8881147754D7}"/>
              </a:ext>
            </a:extLst>
          </p:cNvPr>
          <p:cNvCxnSpPr/>
          <p:nvPr/>
        </p:nvCxnSpPr>
        <p:spPr>
          <a:xfrm flipH="1">
            <a:off x="6021659" y="2542478"/>
            <a:ext cx="981307" cy="2442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84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2. </a:t>
            </a:r>
            <a:r>
              <a:rPr lang="ko-KR" altLang="en-US" dirty="0"/>
              <a:t>새로운 기능</a:t>
            </a:r>
            <a:r>
              <a:rPr lang="en-US" altLang="ko-KR" dirty="0"/>
              <a:t>: </a:t>
            </a:r>
            <a:r>
              <a:rPr lang="ko-KR" altLang="en-US" dirty="0"/>
              <a:t>구조적</a:t>
            </a:r>
            <a:br>
              <a:rPr lang="en-US" altLang="ko-KR" dirty="0"/>
            </a:br>
            <a:r>
              <a:rPr lang="en-US" altLang="ko-KR" dirty="0"/>
              <a:t>               </a:t>
            </a:r>
            <a:r>
              <a:rPr lang="ko-KR" altLang="en-US" dirty="0"/>
              <a:t>패턴 </a:t>
            </a:r>
            <a:r>
              <a:rPr lang="en-US" altLang="ko-KR" dirty="0"/>
              <a:t>match</a:t>
            </a:r>
            <a:r>
              <a:rPr lang="ko-KR" altLang="en-US" dirty="0"/>
              <a:t>와 타입 힌트</a:t>
            </a:r>
          </a:p>
        </p:txBody>
      </p:sp>
      <p:sp>
        <p:nvSpPr>
          <p:cNvPr id="11" name="내용 개체 틀 10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1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A1FBA-4CB8-43E2-AFE3-AABF59074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패턴 </a:t>
            </a:r>
            <a:r>
              <a:rPr lang="en-US" altLang="ko-KR" dirty="0"/>
              <a:t>match </a:t>
            </a:r>
            <a:r>
              <a:rPr lang="ko-KR" altLang="en-US" dirty="0"/>
              <a:t>구문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AE8BC6-3A74-46E7-96E8-655BE586D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match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en-US" altLang="ko-KR" dirty="0"/>
              <a:t>C</a:t>
            </a:r>
            <a:r>
              <a:rPr lang="ko-KR" altLang="en-US" dirty="0"/>
              <a:t>나 자바의 </a:t>
            </a:r>
            <a:r>
              <a:rPr lang="en-US" altLang="ko-KR" dirty="0"/>
              <a:t>switch </a:t>
            </a:r>
            <a:r>
              <a:rPr lang="ko-KR" altLang="en-US" dirty="0"/>
              <a:t>기능보다 훨씬 더 강력한 기능을 지원</a:t>
            </a:r>
            <a:endParaRPr lang="en-US" altLang="ko-KR" dirty="0"/>
          </a:p>
          <a:p>
            <a:pPr lvl="2"/>
            <a:r>
              <a:rPr lang="ko-KR" altLang="en-US" dirty="0"/>
              <a:t>상수나 </a:t>
            </a:r>
            <a:r>
              <a:rPr lang="ko-KR" altLang="en-US" dirty="0" err="1"/>
              <a:t>리터럴</a:t>
            </a:r>
            <a:r>
              <a:rPr lang="ko-KR" altLang="en-US" dirty="0"/>
              <a:t> 뿐만 아니라 비교할 패턴으로써 시퀀스나 클래스 인스턴스를 사용 가능</a:t>
            </a:r>
            <a:endParaRPr lang="en-US" altLang="ko-KR" dirty="0"/>
          </a:p>
          <a:p>
            <a:pPr lvl="1"/>
            <a:r>
              <a:rPr lang="en-US" altLang="ko-KR" dirty="0"/>
              <a:t>2020</a:t>
            </a:r>
            <a:r>
              <a:rPr lang="ko-KR" altLang="en-US" dirty="0"/>
              <a:t>년에 발표된 파이썬 </a:t>
            </a:r>
            <a:r>
              <a:rPr lang="en-US" altLang="ko-KR" dirty="0"/>
              <a:t>3.10</a:t>
            </a:r>
            <a:r>
              <a:rPr lang="ko-KR" altLang="en-US" dirty="0"/>
              <a:t>의 새로운 기능으로 추가</a:t>
            </a:r>
            <a:endParaRPr lang="en-US" altLang="ko-KR" dirty="0"/>
          </a:p>
          <a:p>
            <a:r>
              <a:rPr lang="ko-KR" altLang="en-US" dirty="0"/>
              <a:t>구동 방식</a:t>
            </a:r>
            <a:endParaRPr lang="en-US" altLang="ko-KR" dirty="0"/>
          </a:p>
          <a:p>
            <a:pPr lvl="1"/>
            <a:r>
              <a:rPr lang="ko-KR" altLang="en-US" dirty="0"/>
              <a:t>여러 </a:t>
            </a:r>
            <a:r>
              <a:rPr lang="en-US" altLang="ko-KR" dirty="0"/>
              <a:t>case </a:t>
            </a:r>
            <a:r>
              <a:rPr lang="ko-KR" altLang="en-US" dirty="0"/>
              <a:t>패턴 중에서 먼저 일치하는 하나의 패턴 블록만 실행한 후 종료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옵션</a:t>
            </a:r>
            <a:r>
              <a:rPr lang="en-US" altLang="ko-KR" dirty="0"/>
              <a:t>) </a:t>
            </a:r>
            <a:r>
              <a:rPr lang="ko-KR" altLang="en-US" dirty="0"/>
              <a:t>문자 </a:t>
            </a:r>
            <a:r>
              <a:rPr lang="en-US" altLang="ko-KR" dirty="0"/>
              <a:t>_</a:t>
            </a:r>
          </a:p>
          <a:p>
            <a:pPr lvl="2"/>
            <a:r>
              <a:rPr lang="ko-KR" altLang="en-US" dirty="0"/>
              <a:t>일치하는 항목이 없을 때 실행되는 와일드카드 문자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AF6B0D-5F7C-4572-A06B-7673D20560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228ED2-9E71-4930-A106-F70E6ACC5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372" y="4204401"/>
            <a:ext cx="5492089" cy="25216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223355D-1930-4B4D-99B9-3F40136BB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372" y="6713537"/>
            <a:ext cx="5492089" cy="62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51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A1FBA-4CB8-43E2-AFE3-AABF59074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패턴 </a:t>
            </a:r>
            <a:r>
              <a:rPr lang="en-US" altLang="ko-KR" dirty="0"/>
              <a:t>match </a:t>
            </a:r>
            <a:r>
              <a:rPr lang="ko-KR" altLang="en-US" dirty="0"/>
              <a:t>구문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AE8BC6-3A74-46E7-96E8-655BE586D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구동 방식</a:t>
            </a:r>
            <a:endParaRPr lang="en-US" altLang="ko-KR" dirty="0"/>
          </a:p>
          <a:p>
            <a:pPr lvl="1"/>
            <a:r>
              <a:rPr lang="ko-KR" altLang="en-US" dirty="0"/>
              <a:t>여러 </a:t>
            </a:r>
            <a:r>
              <a:rPr lang="en-US" altLang="ko-KR" dirty="0"/>
              <a:t>case </a:t>
            </a:r>
            <a:r>
              <a:rPr lang="ko-KR" altLang="en-US" dirty="0"/>
              <a:t>패턴 중에서 먼저 일치하는 하나의 패턴 블록만 실행한 후 종료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옵션</a:t>
            </a:r>
            <a:r>
              <a:rPr lang="en-US" altLang="ko-KR" dirty="0"/>
              <a:t>) </a:t>
            </a:r>
            <a:r>
              <a:rPr lang="ko-KR" altLang="en-US" dirty="0"/>
              <a:t>문자 </a:t>
            </a:r>
            <a:r>
              <a:rPr lang="en-US" altLang="ko-KR" dirty="0"/>
              <a:t>_</a:t>
            </a:r>
          </a:p>
          <a:p>
            <a:pPr lvl="2"/>
            <a:r>
              <a:rPr lang="ko-KR" altLang="en-US" dirty="0"/>
              <a:t>일치하는 항목이 없을 때 실행되는 와일드카드 문자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AF6B0D-5F7C-4572-A06B-7673D20560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228ED2-9E71-4930-A106-F70E6ACC5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17" y="3087869"/>
            <a:ext cx="5492089" cy="25216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223355D-1930-4B4D-99B9-3F40136BB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17" y="5597005"/>
            <a:ext cx="5492089" cy="6283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83E3E2-D2DB-4051-B9DB-DD94B7508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214" y="3087869"/>
            <a:ext cx="444817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39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5E8D7-42F6-40FA-B6CC-79D6C92C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여러 항목의 구조적 패턴 캡쳐</a:t>
            </a:r>
            <a:r>
              <a:rPr lang="en-US" altLang="ko-KR" dirty="0"/>
              <a:t>(capture)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BDE984-07B6-459F-BD13-A5EC47DB6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match </a:t>
            </a:r>
            <a:r>
              <a:rPr lang="ko-KR" altLang="en-US" dirty="0"/>
              <a:t>구문에서 </a:t>
            </a:r>
            <a:r>
              <a:rPr lang="en-US" altLang="ko-KR" dirty="0"/>
              <a:t>case </a:t>
            </a:r>
            <a:r>
              <a:rPr lang="ko-KR" altLang="en-US" dirty="0"/>
              <a:t>패턴 값은 리스트나 </a:t>
            </a:r>
            <a:r>
              <a:rPr lang="ko-KR" altLang="en-US" dirty="0" err="1"/>
              <a:t>튜플</a:t>
            </a:r>
            <a:r>
              <a:rPr lang="ko-KR" altLang="en-US" dirty="0"/>
              <a:t> 등 모임</a:t>
            </a:r>
            <a:r>
              <a:rPr lang="en-US" altLang="ko-KR" dirty="0"/>
              <a:t>(collection)</a:t>
            </a:r>
            <a:r>
              <a:rPr lang="ko-KR" altLang="en-US" dirty="0"/>
              <a:t>도 가능</a:t>
            </a:r>
            <a:endParaRPr lang="en-US" altLang="ko-KR" dirty="0"/>
          </a:p>
          <a:p>
            <a:pPr lvl="1"/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구조적</a:t>
            </a:r>
            <a:r>
              <a:rPr lang="en-US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 match </a:t>
            </a:r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구문</a:t>
            </a:r>
            <a:r>
              <a:rPr lang="en-US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(</a:t>
            </a:r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왼쪽</a:t>
            </a:r>
            <a:r>
              <a:rPr lang="en-US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)</a:t>
            </a:r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과</a:t>
            </a:r>
            <a:r>
              <a:rPr lang="ko-KR" altLang="ko-KR" dirty="0">
                <a:effectLst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대입</a:t>
            </a:r>
            <a:r>
              <a:rPr lang="ko-KR" altLang="ko-KR" dirty="0">
                <a:effectLst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문장에서의</a:t>
            </a:r>
            <a:r>
              <a:rPr lang="ko-KR" altLang="ko-KR" dirty="0">
                <a:effectLst/>
                <a:ea typeface="Georgia" panose="02040502050405020303" pitchFamily="18" charset="0"/>
                <a:cs typeface="Georgia" panose="02040502050405020303" pitchFamily="18" charset="0"/>
              </a:rPr>
              <a:t> </a:t>
            </a:r>
            <a:r>
              <a:rPr lang="en-US" altLang="ko-KR" dirty="0">
                <a:effectLst/>
                <a:ea typeface="Georgia" panose="02040502050405020303" pitchFamily="18" charset="0"/>
                <a:cs typeface="Georgia" panose="02040502050405020303" pitchFamily="18" charset="0"/>
              </a:rPr>
              <a:t>*b </a:t>
            </a:r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사용</a:t>
            </a:r>
            <a:r>
              <a:rPr lang="en-US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(</a:t>
            </a:r>
            <a:r>
              <a:rPr lang="ko-KR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오른쪽</a:t>
            </a:r>
            <a:r>
              <a:rPr lang="en-US" altLang="ko-KR" dirty="0">
                <a:effectLst/>
                <a:latin typeface="Georgia" panose="02040502050405020303" pitchFamily="18" charset="0"/>
                <a:ea typeface="맑은 고딕" panose="020B0503020000020004" pitchFamily="50" charset="-127"/>
                <a:cs typeface="Georgia" panose="02040502050405020303" pitchFamily="18" charset="0"/>
              </a:rPr>
              <a:t>)</a:t>
            </a:r>
          </a:p>
          <a:p>
            <a:pPr lvl="1"/>
            <a:endParaRPr lang="en-US" altLang="ko-KR" dirty="0">
              <a:latin typeface="Georgia" panose="02040502050405020303" pitchFamily="18" charset="0"/>
              <a:ea typeface="맑은 고딕" panose="020B0503020000020004" pitchFamily="50" charset="-127"/>
            </a:endParaRPr>
          </a:p>
          <a:p>
            <a:pPr lvl="1"/>
            <a:endParaRPr lang="en-US" altLang="ko-KR" dirty="0">
              <a:latin typeface="Georgia" panose="02040502050405020303" pitchFamily="18" charset="0"/>
              <a:ea typeface="맑은 고딕" panose="020B0503020000020004" pitchFamily="50" charset="-127"/>
            </a:endParaRPr>
          </a:p>
          <a:p>
            <a:pPr lvl="1"/>
            <a:endParaRPr lang="en-US" altLang="ko-KR" dirty="0">
              <a:latin typeface="Georgia" panose="02040502050405020303" pitchFamily="18" charset="0"/>
              <a:ea typeface="맑은 고딕" panose="020B0503020000020004" pitchFamily="50" charset="-127"/>
            </a:endParaRPr>
          </a:p>
          <a:p>
            <a:pPr lvl="1"/>
            <a:endParaRPr lang="en-US" altLang="ko-KR" dirty="0">
              <a:latin typeface="Georgia" panose="02040502050405020303" pitchFamily="18" charset="0"/>
              <a:ea typeface="맑은 고딕" panose="020B0503020000020004" pitchFamily="50" charset="-127"/>
            </a:endParaRPr>
          </a:p>
          <a:p>
            <a:pPr lvl="1"/>
            <a:endParaRPr lang="en-US" altLang="ko-KR" dirty="0">
              <a:latin typeface="Georgia" panose="02040502050405020303" pitchFamily="18" charset="0"/>
              <a:ea typeface="맑은 고딕" panose="020B0503020000020004" pitchFamily="50" charset="-127"/>
            </a:endParaRPr>
          </a:p>
          <a:p>
            <a:pPr lvl="1"/>
            <a:endParaRPr lang="en-US" altLang="ko-KR" dirty="0">
              <a:latin typeface="Georgia" panose="02040502050405020303" pitchFamily="18" charset="0"/>
              <a:ea typeface="맑은 고딕" panose="020B0503020000020004" pitchFamily="50" charset="-127"/>
            </a:endParaRPr>
          </a:p>
          <a:p>
            <a:pPr lvl="1"/>
            <a:r>
              <a:rPr lang="en-US" altLang="ko-KR" dirty="0"/>
              <a:t>case "</a:t>
            </a:r>
            <a:r>
              <a:rPr lang="ko-KR" altLang="en-US" dirty="0"/>
              <a:t>영희</a:t>
            </a:r>
            <a:r>
              <a:rPr lang="en-US" altLang="ko-KR" dirty="0"/>
              <a:t>" | "</a:t>
            </a:r>
            <a:r>
              <a:rPr lang="ko-KR" altLang="en-US" dirty="0"/>
              <a:t>미수</a:t>
            </a:r>
            <a:r>
              <a:rPr lang="en-US" altLang="ko-KR" dirty="0"/>
              <a:t>" as name:</a:t>
            </a:r>
          </a:p>
          <a:p>
            <a:pPr lvl="2"/>
            <a:r>
              <a:rPr lang="ko-KR" altLang="en-US" dirty="0"/>
              <a:t>일치하는 패턴을 변수 </a:t>
            </a:r>
            <a:r>
              <a:rPr lang="en-US" altLang="ko-KR" dirty="0"/>
              <a:t>name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1"/>
            <a:r>
              <a:rPr lang="en-US" altLang="ko-KR" dirty="0"/>
              <a:t>case (name, *others):</a:t>
            </a:r>
          </a:p>
          <a:p>
            <a:pPr lvl="2"/>
            <a:r>
              <a:rPr lang="en-US" altLang="ko-KR" dirty="0"/>
              <a:t>friends</a:t>
            </a:r>
            <a:r>
              <a:rPr lang="ko-KR" altLang="en-US" dirty="0"/>
              <a:t>의 첫 항목은 </a:t>
            </a:r>
            <a:r>
              <a:rPr lang="en-US" altLang="ko-KR" dirty="0"/>
              <a:t>name</a:t>
            </a:r>
            <a:r>
              <a:rPr lang="ko-KR" altLang="en-US" dirty="0"/>
              <a:t>에 담고</a:t>
            </a:r>
            <a:r>
              <a:rPr lang="en-US" altLang="ko-KR" dirty="0"/>
              <a:t>, </a:t>
            </a:r>
            <a:r>
              <a:rPr lang="ko-KR" altLang="en-US" dirty="0"/>
              <a:t>나머지 항목을 목록으로 묶어 </a:t>
            </a:r>
            <a:r>
              <a:rPr lang="en-US" altLang="ko-KR" dirty="0"/>
              <a:t>others</a:t>
            </a:r>
            <a:r>
              <a:rPr lang="ko-KR" altLang="en-US" dirty="0"/>
              <a:t>에 저장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33F8DB-B2D1-4A93-B7A1-7F67167D6F9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297D36-E8BB-48DE-BE4C-8CE950563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83" y="2354094"/>
            <a:ext cx="6448425" cy="1600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4CF81D-6E8C-43DF-A73E-35E1C597F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014" y="5255361"/>
            <a:ext cx="42672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46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CFBE2-D859-4989-96DF-C0E95E55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구조적 패턴이 일치하고 조건이 만족하면 실행하는 보호</a:t>
            </a:r>
            <a:r>
              <a:rPr lang="en-US" altLang="ko-KR" dirty="0"/>
              <a:t>(guards)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DAE5D-1FFD-4017-9E43-36DED1B7D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뒤에 </a:t>
            </a:r>
            <a:r>
              <a:rPr lang="en-US" altLang="ko-KR" dirty="0"/>
              <a:t>if </a:t>
            </a:r>
            <a:r>
              <a:rPr lang="ko-KR" altLang="en-US" dirty="0"/>
              <a:t>조건 형식의 보호</a:t>
            </a:r>
            <a:r>
              <a:rPr lang="en-US" altLang="ko-KR" dirty="0"/>
              <a:t>(</a:t>
            </a:r>
            <a:r>
              <a:rPr lang="ko-KR" altLang="en-US" dirty="0"/>
              <a:t>또는 가드</a:t>
            </a:r>
            <a:r>
              <a:rPr lang="en-US" altLang="ko-KR" dirty="0"/>
              <a:t>, guards)</a:t>
            </a:r>
            <a:r>
              <a:rPr lang="ko-KR" altLang="en-US" dirty="0"/>
              <a:t>가 올 수 있음</a:t>
            </a:r>
            <a:endParaRPr lang="en-US" altLang="ko-KR" dirty="0"/>
          </a:p>
          <a:p>
            <a:pPr lvl="1"/>
            <a:r>
              <a:rPr lang="ko-KR" altLang="en-US" dirty="0"/>
              <a:t>패턴이 일치하고 가드가 </a:t>
            </a:r>
            <a:r>
              <a:rPr lang="en-US" altLang="ko-KR" dirty="0"/>
              <a:t>True</a:t>
            </a:r>
            <a:r>
              <a:rPr lang="ko-KR" altLang="en-US" dirty="0"/>
              <a:t>로 평가되면 </a:t>
            </a:r>
            <a:r>
              <a:rPr lang="en-US" altLang="ko-KR" dirty="0"/>
              <a:t>case </a:t>
            </a:r>
            <a:r>
              <a:rPr lang="ko-KR" altLang="en-US" dirty="0"/>
              <a:t>블록이 실행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185241-3AB7-41B3-AA40-E5633049F9E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9CD68C-7E55-40A9-BB1E-79E6C76B6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44" y="2573471"/>
            <a:ext cx="6410325" cy="304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F9F6D1C-65EC-4D2F-AD13-DC1825EE7C8C}"/>
              </a:ext>
            </a:extLst>
          </p:cNvPr>
          <p:cNvSpPr/>
          <p:nvPr/>
        </p:nvSpPr>
        <p:spPr>
          <a:xfrm>
            <a:off x="2781701" y="4186989"/>
            <a:ext cx="2406316" cy="683393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7D177C-4EC4-4FF6-A5CB-75B67827771B}"/>
              </a:ext>
            </a:extLst>
          </p:cNvPr>
          <p:cNvSpPr/>
          <p:nvPr/>
        </p:nvSpPr>
        <p:spPr>
          <a:xfrm>
            <a:off x="6067465" y="3755774"/>
            <a:ext cx="2056257" cy="431215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807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31732-3668-44B7-83E3-97DE186A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타입 힌트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071F9-0B8A-42EA-A40B-6FDAB705F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단일 변수의 타입 힌트 </a:t>
            </a:r>
          </a:p>
          <a:p>
            <a:pPr lvl="1"/>
            <a:r>
              <a:rPr lang="en-US" altLang="ko-KR" dirty="0"/>
              <a:t>var: </a:t>
            </a:r>
            <a:r>
              <a:rPr lang="en-US" altLang="ko-KR" dirty="0" err="1"/>
              <a:t>type_hint</a:t>
            </a:r>
            <a:r>
              <a:rPr lang="en-US" altLang="ko-KR" dirty="0"/>
              <a:t> = value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C0DD25-454A-41E1-AC79-9EA49FD9C26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타입 </a:t>
            </a:r>
            <a:r>
              <a:rPr lang="ko-KR" altLang="en-US" dirty="0" err="1"/>
              <a:t>어노테이션</a:t>
            </a:r>
            <a:r>
              <a:rPr lang="en-US" altLang="ko-KR" dirty="0"/>
              <a:t>(</a:t>
            </a:r>
            <a:r>
              <a:rPr lang="ko-KR" altLang="en-US" dirty="0"/>
              <a:t>유형 주석</a:t>
            </a:r>
            <a:r>
              <a:rPr lang="en-US" altLang="ko-KR" dirty="0"/>
              <a:t>, type annotation) </a:t>
            </a:r>
            <a:r>
              <a:rPr lang="ko-KR" altLang="en-US" dirty="0"/>
              <a:t>또는 타입 힌트</a:t>
            </a:r>
            <a:r>
              <a:rPr lang="en-US" altLang="ko-KR" dirty="0"/>
              <a:t>(</a:t>
            </a:r>
            <a:r>
              <a:rPr lang="ko-KR" altLang="en-US" dirty="0"/>
              <a:t>유형 힌트</a:t>
            </a:r>
            <a:r>
              <a:rPr lang="en-US" altLang="ko-KR" dirty="0"/>
              <a:t>, type hint)</a:t>
            </a:r>
            <a:r>
              <a:rPr lang="ko-KR" altLang="en-US" dirty="0"/>
              <a:t>라 부름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0119D0-AB48-40E6-88BB-6C71029E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310" y="1853462"/>
            <a:ext cx="1676400" cy="5905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F33B577-82EC-4055-8FC7-D081A0B61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310" y="2500363"/>
            <a:ext cx="3609975" cy="13239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B274D4E-38F8-4339-A1F5-087C899D5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408" y="3981281"/>
            <a:ext cx="2228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83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1B28C-D39E-46C7-A54E-7BDF224B3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모임 자료형에 대한 타입 힌트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18A3AF-C30F-4106-B674-2939A2555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list, tuple, </a:t>
            </a:r>
            <a:r>
              <a:rPr lang="en-US" altLang="ko-KR" dirty="0" err="1"/>
              <a:t>dict</a:t>
            </a:r>
            <a:r>
              <a:rPr lang="en-US" altLang="ko-KR" dirty="0"/>
              <a:t>, set </a:t>
            </a:r>
            <a:r>
              <a:rPr lang="ko-KR" altLang="en-US" dirty="0"/>
              <a:t>등의 자료형 타입 힌트</a:t>
            </a:r>
            <a:endParaRPr lang="en-US" altLang="ko-KR" dirty="0"/>
          </a:p>
          <a:p>
            <a:pPr lvl="1"/>
            <a:r>
              <a:rPr lang="en-US" altLang="ko-KR" dirty="0"/>
              <a:t>var</a:t>
            </a:r>
            <a:r>
              <a:rPr lang="ko-KR" altLang="en-US" dirty="0"/>
              <a:t> </a:t>
            </a:r>
            <a:r>
              <a:rPr lang="en-US" altLang="ko-KR" dirty="0"/>
              <a:t>: list[int]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926104-1134-4F14-B588-7C5BFF574CF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85C08-F6FF-4A50-82D9-06D4EEF46BC6}"/>
              </a:ext>
            </a:extLst>
          </p:cNvPr>
          <p:cNvSpPr txBox="1"/>
          <p:nvPr/>
        </p:nvSpPr>
        <p:spPr>
          <a:xfrm>
            <a:off x="818147" y="2438972"/>
            <a:ext cx="93172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For collections on Python 3.9+, the type of the collection item is in brackets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list[int] = [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lst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For tuples of fixed size, we specify the types of all the elements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tp1: tuple[int, str, float] = 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Python 3.9+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tp1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For tuples of variable size, we use one type and ellipsis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tp2: tuple[int, ...] = (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Python 3.9+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tp2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For mappings, we need the types of both keys and values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dt: </a:t>
            </a: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[str, int] = {</a:t>
            </a:r>
            <a:r>
              <a:rPr lang="en-US" altLang="ko-K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2021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 </a:t>
            </a:r>
            <a:r>
              <a:rPr lang="en-US" altLang="ko-KR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Python 3.9+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dt</a:t>
            </a:r>
          </a:p>
          <a:p>
            <a:b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myset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set[int] = {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myset</a:t>
            </a:r>
            <a:endParaRPr lang="en-US" altLang="ko-K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94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9AE67-EAD3-4F06-BB55-73DC6BE3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Union</a:t>
            </a:r>
            <a:r>
              <a:rPr lang="ko-KR" altLang="en-US" dirty="0"/>
              <a:t> </a:t>
            </a:r>
            <a:r>
              <a:rPr lang="en-US" altLang="ko-KR" dirty="0"/>
              <a:t>Optional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68F891-896B-4092-BD74-80BF6633D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 Union, </a:t>
            </a:r>
            <a:r>
              <a:rPr lang="ko-KR" altLang="en-US" dirty="0"/>
              <a:t>연산자 </a:t>
            </a:r>
            <a:r>
              <a:rPr lang="en-US" altLang="ko-KR" dirty="0"/>
              <a:t>| </a:t>
            </a:r>
          </a:p>
          <a:p>
            <a:pPr lvl="1"/>
            <a:r>
              <a:rPr lang="ko-KR" altLang="en-US" dirty="0"/>
              <a:t>또는 의미 </a:t>
            </a:r>
            <a:endParaRPr lang="en-US" altLang="ko-KR" dirty="0"/>
          </a:p>
          <a:p>
            <a:r>
              <a:rPr lang="ko-KR" altLang="en-US" dirty="0"/>
              <a:t>함수 </a:t>
            </a:r>
            <a:r>
              <a:rPr lang="en-US" altLang="ko-KR" dirty="0"/>
              <a:t>Optional[str]</a:t>
            </a:r>
          </a:p>
          <a:p>
            <a:pPr lvl="1"/>
            <a:r>
              <a:rPr lang="en-US" altLang="ko-KR" dirty="0"/>
              <a:t>str | None</a:t>
            </a:r>
            <a:r>
              <a:rPr lang="ko-KR" altLang="en-US" dirty="0"/>
              <a:t> 의미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FDECCB-B953-4F42-9D85-10F159A68B4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665BB-8C61-4DE2-BF36-EBB513CACF27}"/>
              </a:ext>
            </a:extLst>
          </p:cNvPr>
          <p:cNvSpPr txBox="1"/>
          <p:nvPr/>
        </p:nvSpPr>
        <p:spPr>
          <a:xfrm>
            <a:off x="2811590" y="2653899"/>
            <a:ext cx="70254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typing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Union, Optional</a:t>
            </a:r>
          </a:p>
          <a:p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typing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Union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value: list[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Union[int, str]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"fun"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help(Union)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value: list[</a:t>
            </a:r>
            <a:r>
              <a:rPr lang="en-US" altLang="ko-KR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 | str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"test"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"fun"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Python 3.10+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typing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Optional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Optional[X] is the same as X | None or Union[X, None]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value: Optional[str] =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py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str | None</a:t>
            </a: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</a:p>
          <a:p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help(Optional)</a:t>
            </a:r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5104C34A-D11F-45BB-9EBB-4CB61D4DB9B5}"/>
              </a:ext>
            </a:extLst>
          </p:cNvPr>
          <p:cNvSpPr/>
          <p:nvPr/>
        </p:nvSpPr>
        <p:spPr>
          <a:xfrm>
            <a:off x="4181756" y="3861851"/>
            <a:ext cx="1770035" cy="265266"/>
          </a:xfrm>
          <a:prstGeom prst="wedgeRectCallout">
            <a:avLst>
              <a:gd name="adj1" fmla="val -22309"/>
              <a:gd name="adj2" fmla="val 149143"/>
            </a:avLst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200" dirty="0">
                <a:solidFill>
                  <a:srgbClr val="FF0000"/>
                </a:solidFill>
              </a:rPr>
              <a:t>간결하므로 권장</a:t>
            </a:r>
          </a:p>
        </p:txBody>
      </p:sp>
    </p:spTree>
    <p:extLst>
      <p:ext uri="{BB962C8B-B14F-4D97-AF65-F5344CB8AC3E}">
        <p14:creationId xmlns:p14="http://schemas.microsoft.com/office/powerpoint/2010/main" val="1152933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95CAB-CD8C-4B1B-B861-485453AB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주석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88EFE-386F-4BDA-8644-2C9D54A72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주석</a:t>
            </a:r>
            <a:r>
              <a:rPr lang="en-US" altLang="ko-KR" dirty="0"/>
              <a:t>(function annotations)</a:t>
            </a:r>
          </a:p>
          <a:p>
            <a:pPr lvl="1"/>
            <a:r>
              <a:rPr lang="ko-KR" altLang="en-US" dirty="0"/>
              <a:t>매개변수와 반환 값에 타입 힌트</a:t>
            </a:r>
            <a:r>
              <a:rPr lang="en-US" altLang="ko-KR" dirty="0"/>
              <a:t>(type annotations)</a:t>
            </a:r>
            <a:r>
              <a:rPr lang="ko-KR" altLang="en-US" dirty="0"/>
              <a:t>을 작성하는 것</a:t>
            </a:r>
            <a:endParaRPr lang="en-US" altLang="ko-KR" dirty="0"/>
          </a:p>
          <a:p>
            <a:pPr lvl="2"/>
            <a:r>
              <a:rPr lang="ko-KR" altLang="en-US" dirty="0"/>
              <a:t>매개변수는 변수의 타입 힌트 방법과 동일</a:t>
            </a:r>
            <a:endParaRPr lang="en-US" altLang="ko-KR" dirty="0"/>
          </a:p>
          <a:p>
            <a:pPr lvl="2"/>
            <a:r>
              <a:rPr lang="ko-KR" altLang="en-US" dirty="0"/>
              <a:t>함수 헤더 뒤에 </a:t>
            </a:r>
            <a:r>
              <a:rPr lang="en-US" altLang="ko-KR" dirty="0"/>
              <a:t>-&gt; </a:t>
            </a:r>
            <a:r>
              <a:rPr lang="en-US" altLang="ko-KR" dirty="0" err="1"/>
              <a:t>return_type</a:t>
            </a:r>
            <a:r>
              <a:rPr lang="en-US" altLang="ko-KR" dirty="0"/>
              <a:t>: </a:t>
            </a:r>
            <a:r>
              <a:rPr lang="ko-KR" altLang="en-US" dirty="0"/>
              <a:t>으로 반환 값에 대한 타입 힌트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D7743E-5718-45E0-9828-F6B3A5181FA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018E8D-73B3-4634-8B18-F968C6766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869" y="3143933"/>
            <a:ext cx="7618074" cy="316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11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A32F7-F5E2-4105-9E39-5656317C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매개변수와 반환 값에 타입 힌트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99F23-3F77-4F7D-887B-5DA0A4D55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357AEF-8FEC-4D69-BD97-4509595441B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0ED17B-02D9-49B9-9D4E-552F3B2E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16" y="3336273"/>
            <a:ext cx="6953250" cy="1676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F74EBC-A614-4B36-B873-5F9022D99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16" y="2141196"/>
            <a:ext cx="53625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82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E739C-7223-43C2-9089-7BE66ABB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매개변수인 함수의 타입 힌트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7D3C46-AF53-4FDB-8FFA-CC03CBCE9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매개변수인 함수 </a:t>
            </a:r>
            <a:r>
              <a:rPr lang="en-US" altLang="ko-KR" dirty="0" err="1"/>
              <a:t>func</a:t>
            </a:r>
            <a:r>
              <a:rPr lang="ko-KR" altLang="en-US" dirty="0"/>
              <a:t>의 함수 주석</a:t>
            </a:r>
            <a:endParaRPr lang="en-US" altLang="ko-KR" dirty="0"/>
          </a:p>
          <a:p>
            <a:pPr lvl="1"/>
            <a:r>
              <a:rPr lang="en-US" altLang="ko-KR" dirty="0" err="1"/>
              <a:t>func</a:t>
            </a:r>
            <a:r>
              <a:rPr lang="en-US" altLang="ko-KR" dirty="0"/>
              <a:t>: Callable[[float, float], float]</a:t>
            </a:r>
          </a:p>
          <a:p>
            <a:pPr lvl="2"/>
            <a:r>
              <a:rPr lang="en-US" altLang="ko-KR" dirty="0"/>
              <a:t>Callable[] </a:t>
            </a:r>
            <a:r>
              <a:rPr lang="ko-KR" altLang="en-US" dirty="0"/>
              <a:t>내부의 </a:t>
            </a:r>
            <a:r>
              <a:rPr lang="en-US" altLang="ko-KR" dirty="0"/>
              <a:t>[float, float]</a:t>
            </a:r>
          </a:p>
          <a:p>
            <a:pPr lvl="3"/>
            <a:r>
              <a:rPr lang="ko-KR" altLang="en-US" dirty="0"/>
              <a:t>함수 </a:t>
            </a:r>
            <a:r>
              <a:rPr lang="en-US" altLang="ko-KR" dirty="0" err="1"/>
              <a:t>func</a:t>
            </a:r>
            <a:r>
              <a:rPr lang="ko-KR" altLang="en-US" dirty="0"/>
              <a:t>의 매개변수의 유형이며 뒤의 </a:t>
            </a:r>
            <a:r>
              <a:rPr lang="en-US" altLang="ko-KR" dirty="0"/>
              <a:t>float</a:t>
            </a:r>
            <a:r>
              <a:rPr lang="ko-KR" altLang="en-US" dirty="0"/>
              <a:t>는 반환 값 유형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31FE7A-10CE-4BC6-A9DE-375473D85F0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19316C-3BC3-493B-A0D3-2B5179A50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99" y="3377384"/>
            <a:ext cx="8238785" cy="197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83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61287-6998-4102-8B5C-E826C6F4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</a:t>
            </a:r>
            <a:r>
              <a:rPr lang="en-US" altLang="ko-KR" dirty="0"/>
              <a:t>3.12</a:t>
            </a:r>
            <a:r>
              <a:rPr lang="ko-KR" altLang="en-US" dirty="0"/>
              <a:t>의 새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B9B7EE-1F8F-4A4E-B6B9-0BF93002F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친절한 오류 메시지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f-</a:t>
            </a:r>
            <a:r>
              <a:rPr lang="ko-KR" altLang="en-US" dirty="0"/>
              <a:t>문자열</a:t>
            </a:r>
            <a:endParaRPr lang="en-US" altLang="ko-KR" dirty="0"/>
          </a:p>
          <a:p>
            <a:pPr lvl="1"/>
            <a:r>
              <a:rPr lang="ko-KR" altLang="en-US" dirty="0"/>
              <a:t>파이썬 </a:t>
            </a:r>
            <a:r>
              <a:rPr lang="en-US" altLang="ko-KR" dirty="0"/>
              <a:t>3.6</a:t>
            </a:r>
            <a:r>
              <a:rPr lang="ko-KR" altLang="en-US" dirty="0"/>
              <a:t>에서 도입</a:t>
            </a:r>
            <a:endParaRPr lang="en-US" altLang="ko-KR" dirty="0"/>
          </a:p>
          <a:p>
            <a:pPr lvl="1"/>
            <a:r>
              <a:rPr lang="ko-KR" altLang="en-US" dirty="0"/>
              <a:t>버전 </a:t>
            </a:r>
            <a:r>
              <a:rPr lang="en-US" altLang="ko-KR" dirty="0"/>
              <a:t>3.12</a:t>
            </a:r>
            <a:r>
              <a:rPr lang="ko-KR" altLang="en-US" dirty="0"/>
              <a:t>에서 기능 향상</a:t>
            </a:r>
            <a:endParaRPr lang="en-US" altLang="ko-KR" dirty="0"/>
          </a:p>
          <a:p>
            <a:pPr lvl="2"/>
            <a:r>
              <a:rPr lang="ko-KR" altLang="en-US" dirty="0"/>
              <a:t>큰따옴표 </a:t>
            </a:r>
            <a:r>
              <a:rPr lang="en-US" altLang="ko-KR" dirty="0"/>
              <a:t>"…"</a:t>
            </a:r>
            <a:r>
              <a:rPr lang="ko-KR" altLang="en-US" dirty="0"/>
              <a:t>로 구분한 경우라도 내부 표현식에서 큰따옴표 </a:t>
            </a:r>
            <a:r>
              <a:rPr lang="en-US" altLang="ko-KR" dirty="0"/>
              <a:t>"…"</a:t>
            </a:r>
            <a:r>
              <a:rPr lang="ko-KR" altLang="en-US" dirty="0"/>
              <a:t>를 계속 사용 가능</a:t>
            </a:r>
            <a:endParaRPr lang="en-US" altLang="ko-KR" dirty="0"/>
          </a:p>
          <a:p>
            <a:pPr lvl="2"/>
            <a:r>
              <a:rPr lang="ko-KR" altLang="en-US" dirty="0"/>
              <a:t>작은 따옴표도 가능</a:t>
            </a:r>
            <a:endParaRPr lang="en-US" altLang="ko-KR" dirty="0"/>
          </a:p>
          <a:p>
            <a:pPr lvl="1"/>
            <a:r>
              <a:rPr lang="ko-KR" altLang="en-US" dirty="0"/>
              <a:t>유니코드 특수 문자를 삽입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2"/>
            <a:r>
              <a:rPr lang="en-US" altLang="ko-KR" dirty="0"/>
              <a:t>\N{BLACK HEART SUIT}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D0127C-84E5-4AFE-9D96-95C7D07521C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053517-3717-40B3-AB46-FAE33C792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30" y="2014707"/>
            <a:ext cx="7724775" cy="11239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59972F-2DC5-4461-8BD9-4E8F779F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84" y="4542209"/>
            <a:ext cx="3705225" cy="14954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BB8D29-7BC6-46A1-9BD4-927D1458D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442" y="6298143"/>
            <a:ext cx="653415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0417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18062</TotalTime>
  <Words>2066</Words>
  <Application>Microsoft Office PowerPoint</Application>
  <PresentationFormat>사용자 지정</PresentationFormat>
  <Paragraphs>252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HY궁서B</vt:lpstr>
      <vt:lpstr>Pretendard</vt:lpstr>
      <vt:lpstr>Pretendard SemiBold</vt:lpstr>
      <vt:lpstr>맑은 고딕</vt:lpstr>
      <vt:lpstr>Arial</vt:lpstr>
      <vt:lpstr>Consolas</vt:lpstr>
      <vt:lpstr>Georgia</vt:lpstr>
      <vt:lpstr>Wingdings</vt:lpstr>
      <vt:lpstr>디자인 사용자 지정</vt:lpstr>
      <vt:lpstr>PowerPoint 프레젠테이션</vt:lpstr>
      <vt:lpstr>PowerPoint 프레젠테이션</vt:lpstr>
      <vt:lpstr>Section 1. 패키지 활용</vt:lpstr>
      <vt:lpstr>모듈 operator 개요와 산술 연산자</vt:lpstr>
      <vt:lpstr>클래스 defaultdict 개요</vt:lpstr>
      <vt:lpstr>클래스 defaultdict의 첫 번째 인자의 초기 값을 list로 지정</vt:lpstr>
      <vt:lpstr>사전의 메소드 setdefault() 활용</vt:lpstr>
      <vt:lpstr>클래스 defaultdict 활용</vt:lpstr>
      <vt:lpstr>표준 파이썬 모듈 random</vt:lpstr>
      <vt:lpstr>표준 파이썬 모듈 random 주요 함수</vt:lpstr>
      <vt:lpstr>외부 패키지 numpy의 난수</vt:lpstr>
      <vt:lpstr>패키지 numpy의 모듈 random의 randint()와 choice() 함수</vt:lpstr>
      <vt:lpstr>모듈 random의 확률분포의 난수 발생 함수 randn()과 uniform()</vt:lpstr>
      <vt:lpstr>파이썬 numpy의 모듈 random 함수 정리</vt:lpstr>
      <vt:lpstr>9-4 코딩</vt:lpstr>
      <vt:lpstr>Section 2. 새로운 기능: 구조적                패턴 match와 타입 힌트</vt:lpstr>
      <vt:lpstr>패턴 match 구문 개요</vt:lpstr>
      <vt:lpstr>패턴 match 구문 실행</vt:lpstr>
      <vt:lpstr>여러 항목의 구조적 패턴 캡쳐(capture)</vt:lpstr>
      <vt:lpstr>구조적 패턴이 일치하고 조건이 만족하면 실행하는 보호(guards)</vt:lpstr>
      <vt:lpstr>변수 타입 힌트</vt:lpstr>
      <vt:lpstr>모임 자료형에 대한 타입 힌트</vt:lpstr>
      <vt:lpstr>Union Optional</vt:lpstr>
      <vt:lpstr>함수 주석</vt:lpstr>
      <vt:lpstr>매개변수와 반환 값에 타입 힌트</vt:lpstr>
      <vt:lpstr>매개변수인 함수의 타입 힌트</vt:lpstr>
      <vt:lpstr>파이썬 3.12의 새 기능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m20074</dc:creator>
  <cp:lastModifiedBy>강환수</cp:lastModifiedBy>
  <cp:revision>596</cp:revision>
  <dcterms:created xsi:type="dcterms:W3CDTF">2021-04-14T04:58:56Z</dcterms:created>
  <dcterms:modified xsi:type="dcterms:W3CDTF">2026-05-15T04:10:33Z</dcterms:modified>
</cp:coreProperties>
</file>